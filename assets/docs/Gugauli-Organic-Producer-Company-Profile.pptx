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Gugauli Organic Producer Company Limited is a Farmer Producer Company registered under the Companies Act, 2013, based in Banda district, Uttar Pradesh. Incorporated 8 April 2026 by ten founding farmer-subscribers; the register now stands at 201 shareholder-members.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 members hold 1,329 shares of ₹10 each. Authorised share capital is ₹1,00,000 (10,000 equity shares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Founded by ten MOA subscribers holding 1,000 shares each. The wider member register has since grown to 201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 Companies were introduced by the Companies (Amendment) Act 2002 and carried into the Companies Act 2013. Membership is restricted to primary producers.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Village counts are taken from the company member register. Only name, village and shareholding are ever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directors are promoters appointed on 8 April 2026. DINs are held on file and are deliberately not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5C3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2743200"/>
            <a:ext cx="3931920" cy="2020824"/>
          </a:xfrm>
          <a:prstGeom prst="rect">
            <a:avLst/>
          </a:prstGeom>
        </p:spPr>
      </p:pic>
      <p:sp>
        <p:nvSpPr>
          <p:cNvPr id="3" name="Text 0"/>
          <p:cNvSpPr txBox="1"/>
          <p:nvPr/>
        </p:nvSpPr>
        <p:spPr>
          <a:xfrm>
            <a:off x="914400" y="1828800"/>
            <a:ext cx="6583680" cy="274320"/>
          </a:xfrm>
          <a:prstGeom prst="rect">
            <a:avLst/>
          </a:prstGeom>
          <a:noFill/>
          <a:ln/>
        </p:spPr>
        <p:txBody>
          <a:bodyPr wrap="square" lIns="0" tIns="0" rIns="0" bIns="0" rtlCol="0" anchor="ctr"/>
          <a:lstStyle/>
          <a:p>
            <a:pPr indent="0" marL="0">
              <a:buNone/>
            </a:pPr>
            <a:r>
              <a:rPr lang="en-US" sz="1300" b="1" spc="250" kern="0" dirty="0">
                <a:solidFill>
                  <a:srgbClr val="E0A12E"/>
                </a:solidFill>
                <a:latin typeface="Calibri" pitchFamily="34" charset="0"/>
                <a:ea typeface="Calibri" pitchFamily="34" charset="-122"/>
                <a:cs typeface="Calibri" pitchFamily="34" charset="-120"/>
              </a:rPr>
              <a:t>FARMER-OWNED · ORGANIC · BUNDELKHAND</a:t>
            </a:r>
            <a:endParaRPr lang="en-US" sz="1300" dirty="0"/>
          </a:p>
        </p:txBody>
      </p:sp>
      <p:sp>
        <p:nvSpPr>
          <p:cNvPr id="4" name="Text 1"/>
          <p:cNvSpPr txBox="1"/>
          <p:nvPr/>
        </p:nvSpPr>
        <p:spPr>
          <a:xfrm>
            <a:off x="914400" y="2212848"/>
            <a:ext cx="6675120" cy="1691640"/>
          </a:xfrm>
          <a:prstGeom prst="rect">
            <a:avLst/>
          </a:prstGeom>
          <a:noFill/>
          <a:ln/>
        </p:spPr>
        <p:txBody>
          <a:bodyPr wrap="square" lIns="0" tIns="0" rIns="0" bIns="0" rtlCol="0" anchor="t"/>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Gugauli Organic</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Producer Company Ltd</a:t>
            </a:r>
            <a:endParaRPr lang="en-US" sz="4200" dirty="0"/>
          </a:p>
        </p:txBody>
      </p:sp>
      <p:sp>
        <p:nvSpPr>
          <p:cNvPr id="5" name="Text 2"/>
          <p:cNvSpPr txBox="1"/>
          <p:nvPr/>
        </p:nvSpPr>
        <p:spPr>
          <a:xfrm>
            <a:off x="914400" y="3950208"/>
            <a:ext cx="6583680" cy="411480"/>
          </a:xfrm>
          <a:prstGeom prst="rect">
            <a:avLst/>
          </a:prstGeom>
          <a:noFill/>
          <a:ln/>
        </p:spPr>
        <p:txBody>
          <a:bodyPr wrap="square" lIns="0" tIns="0" rIns="0" bIns="0" rtlCol="0" anchor="ctr"/>
          <a:lstStyle/>
          <a:p>
            <a:pPr indent="0" marL="0">
              <a:buNone/>
            </a:pPr>
            <a:r>
              <a:rPr lang="en-US" sz="2500" i="1" dirty="0">
                <a:solidFill>
                  <a:srgbClr val="E0A12E"/>
                </a:solidFill>
                <a:latin typeface="Cambria" pitchFamily="34" charset="0"/>
                <a:ea typeface="Cambria" pitchFamily="34" charset="-122"/>
                <a:cs typeface="Cambria" pitchFamily="34" charset="-120"/>
              </a:rPr>
              <a:t>Growing for Life</a:t>
            </a:r>
            <a:endParaRPr lang="en-US" sz="2500" dirty="0"/>
          </a:p>
        </p:txBody>
      </p:sp>
      <p:sp>
        <p:nvSpPr>
          <p:cNvPr id="6" name="Text 3"/>
          <p:cNvSpPr txBox="1"/>
          <p:nvPr/>
        </p:nvSpPr>
        <p:spPr>
          <a:xfrm>
            <a:off x="914400" y="4498848"/>
            <a:ext cx="6583680" cy="731520"/>
          </a:xfrm>
          <a:prstGeom prst="rect">
            <a:avLst/>
          </a:prstGeom>
          <a:noFill/>
          <a:ln/>
        </p:spPr>
        <p:txBody>
          <a:bodyPr wrap="square" lIns="0" tIns="0" rIns="0" bIns="0" rtlCol="0" anchor="t"/>
          <a:lstStyle/>
          <a:p>
            <a:pPr indent="0" marL="0">
              <a:lnSpc>
                <a:spcPts val="2200"/>
              </a:lnSpc>
              <a:buNone/>
            </a:pPr>
            <a:r>
              <a:rPr lang="en-US" sz="1450" dirty="0">
                <a:solidFill>
                  <a:srgbClr val="D6E4D3"/>
                </a:solidFill>
                <a:latin typeface="Calibri" pitchFamily="34" charset="0"/>
                <a:ea typeface="Calibri" pitchFamily="34" charset="-122"/>
                <a:cs typeface="Calibri" pitchFamily="34" charset="-120"/>
              </a:rPr>
              <a:t>A farmer-owned organic producer company from Banda, Uttar Pradesh —</a:t>
            </a:r>
            <a:endParaRPr lang="en-US" sz="1450" dirty="0"/>
          </a:p>
          <a:p>
            <a:pPr indent="0" marL="0">
              <a:lnSpc>
                <a:spcPts val="2200"/>
              </a:lnSpc>
              <a:buNone/>
            </a:pPr>
            <a:r>
              <a:rPr lang="en-US" sz="1450" dirty="0">
                <a:solidFill>
                  <a:srgbClr val="D6E4D3"/>
                </a:solidFill>
                <a:latin typeface="Calibri" pitchFamily="34" charset="0"/>
                <a:ea typeface="Calibri" pitchFamily="34" charset="-122"/>
                <a:cs typeface="Calibri" pitchFamily="34" charset="-120"/>
              </a:rPr>
              <a:t>201 shareholder-members growing together and selling fairly.</a:t>
            </a:r>
            <a:endParaRPr lang="en-US" sz="1450" dirty="0"/>
          </a:p>
        </p:txBody>
      </p:sp>
      <p:sp>
        <p:nvSpPr>
          <p:cNvPr id="7" name="Text 4"/>
          <p:cNvSpPr txBox="1"/>
          <p:nvPr/>
        </p:nvSpPr>
        <p:spPr>
          <a:xfrm>
            <a:off x="914400" y="5760720"/>
            <a:ext cx="10332720" cy="274320"/>
          </a:xfrm>
          <a:prstGeom prst="rect">
            <a:avLst/>
          </a:prstGeom>
          <a:noFill/>
          <a:ln/>
        </p:spPr>
        <p:txBody>
          <a:bodyPr wrap="square" lIns="0" tIns="0" rIns="0" bIns="0" rtlCol="0" anchor="ctr"/>
          <a:lstStyle/>
          <a:p>
            <a:pPr indent="0" marL="0">
              <a:buNone/>
            </a:pPr>
            <a:r>
              <a:rPr lang="en-US" sz="1100" dirty="0">
                <a:solidFill>
                  <a:srgbClr val="9FBFA6"/>
                </a:solidFill>
                <a:latin typeface="Calibri" pitchFamily="34" charset="0"/>
                <a:ea typeface="Calibri" pitchFamily="34" charset="-122"/>
                <a:cs typeface="Calibri" pitchFamily="34" charset="-120"/>
              </a:rPr>
              <a:t>CIN U01619UP2026PTC246478  ·  Incorporated 8 April 2026  ·  gugauliorganic.in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THE COMPANY TODAY</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At a glance</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81328"/>
            <a:ext cx="9692640" cy="548640"/>
          </a:xfrm>
          <a:prstGeom prst="rect">
            <a:avLst/>
          </a:prstGeom>
          <a:noFill/>
          <a:ln/>
        </p:spPr>
        <p:txBody>
          <a:bodyPr wrap="square" lIns="0" tIns="0" rIns="0" bIns="0" rtlCol="0" anchor="t"/>
          <a:lstStyle/>
          <a:p>
            <a:pPr indent="0" marL="0">
              <a:lnSpc>
                <a:spcPts val="2300"/>
              </a:lnSpc>
              <a:buNone/>
            </a:pPr>
            <a:r>
              <a:rPr lang="en-US" sz="1500" dirty="0">
                <a:solidFill>
                  <a:srgbClr val="211C16"/>
                </a:solidFill>
                <a:latin typeface="Calibri" pitchFamily="34" charset="0"/>
                <a:ea typeface="Calibri" pitchFamily="34" charset="-122"/>
                <a:cs typeface="Calibri" pitchFamily="34" charset="-120"/>
              </a:rPr>
              <a:t>A Farmer Producer Company owned by the farmers who supply it. Every member is a shareholder, and every shareholder has a voice in how the company is run.</a:t>
            </a:r>
            <a:endParaRPr lang="en-US" sz="1500" dirty="0"/>
          </a:p>
        </p:txBody>
      </p:sp>
      <p:sp>
        <p:nvSpPr>
          <p:cNvPr id="6" name="Shape 3"/>
          <p:cNvSpPr/>
          <p:nvPr/>
        </p:nvSpPr>
        <p:spPr>
          <a:xfrm>
            <a:off x="640080" y="2286000"/>
            <a:ext cx="2514600" cy="1783080"/>
          </a:xfrm>
          <a:prstGeom prst="roundRect">
            <a:avLst>
              <a:gd name="adj" fmla="val 5128"/>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7" name="Text 4"/>
          <p:cNvSpPr txBox="1"/>
          <p:nvPr/>
        </p:nvSpPr>
        <p:spPr>
          <a:xfrm>
            <a:off x="868680" y="2450592"/>
            <a:ext cx="2057400" cy="777240"/>
          </a:xfrm>
          <a:prstGeom prst="rect">
            <a:avLst/>
          </a:prstGeom>
          <a:noFill/>
          <a:ln/>
        </p:spPr>
        <p:txBody>
          <a:bodyPr wrap="square" lIns="0" tIns="0" rIns="0" bIns="0" rtlCol="0" anchor="ctr"/>
          <a:lstStyle/>
          <a:p>
            <a:pPr indent="0" marL="0">
              <a:buNone/>
            </a:pPr>
            <a:r>
              <a:rPr lang="en-US" sz="5400" b="1" dirty="0">
                <a:solidFill>
                  <a:srgbClr val="245C36"/>
                </a:solidFill>
                <a:latin typeface="Cambria" pitchFamily="34" charset="0"/>
                <a:ea typeface="Cambria" pitchFamily="34" charset="-122"/>
                <a:cs typeface="Cambria" pitchFamily="34" charset="-120"/>
              </a:rPr>
              <a:t>201</a:t>
            </a:r>
            <a:endParaRPr lang="en-US" sz="5400" dirty="0"/>
          </a:p>
        </p:txBody>
      </p:sp>
      <p:sp>
        <p:nvSpPr>
          <p:cNvPr id="8" name="Text 5"/>
          <p:cNvSpPr txBox="1"/>
          <p:nvPr/>
        </p:nvSpPr>
        <p:spPr>
          <a:xfrm>
            <a:off x="868680" y="3255264"/>
            <a:ext cx="2057400" cy="274320"/>
          </a:xfrm>
          <a:prstGeom prst="rect">
            <a:avLst/>
          </a:prstGeom>
          <a:noFill/>
          <a:ln/>
        </p:spPr>
        <p:txBody>
          <a:bodyPr wrap="square" lIns="0" tIns="0" rIns="0" bIns="0" rtlCol="0" anchor="ctr"/>
          <a:lstStyle/>
          <a:p>
            <a:pPr indent="0" marL="0">
              <a:buNone/>
            </a:pPr>
            <a:r>
              <a:rPr lang="en-US" sz="1400" b="1" dirty="0">
                <a:solidFill>
                  <a:srgbClr val="211C16"/>
                </a:solidFill>
                <a:latin typeface="Calibri" pitchFamily="34" charset="0"/>
                <a:ea typeface="Calibri" pitchFamily="34" charset="-122"/>
                <a:cs typeface="Calibri" pitchFamily="34" charset="-120"/>
              </a:rPr>
              <a:t>shareholder-members</a:t>
            </a:r>
            <a:endParaRPr lang="en-US" sz="1400" dirty="0"/>
          </a:p>
        </p:txBody>
      </p:sp>
      <p:sp>
        <p:nvSpPr>
          <p:cNvPr id="9" name="Text 6"/>
          <p:cNvSpPr txBox="1"/>
          <p:nvPr/>
        </p:nvSpPr>
        <p:spPr>
          <a:xfrm>
            <a:off x="868680" y="3538728"/>
            <a:ext cx="2057400" cy="274320"/>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on the member register</a:t>
            </a:r>
            <a:endParaRPr lang="en-US" sz="1150" dirty="0"/>
          </a:p>
        </p:txBody>
      </p:sp>
      <p:sp>
        <p:nvSpPr>
          <p:cNvPr id="10" name="Shape 7"/>
          <p:cNvSpPr/>
          <p:nvPr/>
        </p:nvSpPr>
        <p:spPr>
          <a:xfrm>
            <a:off x="3429000" y="2286000"/>
            <a:ext cx="2514600" cy="1783080"/>
          </a:xfrm>
          <a:prstGeom prst="roundRect">
            <a:avLst>
              <a:gd name="adj" fmla="val 5128"/>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1" name="Text 8"/>
          <p:cNvSpPr txBox="1"/>
          <p:nvPr/>
        </p:nvSpPr>
        <p:spPr>
          <a:xfrm>
            <a:off x="3657600" y="2450592"/>
            <a:ext cx="2057400" cy="777240"/>
          </a:xfrm>
          <a:prstGeom prst="rect">
            <a:avLst/>
          </a:prstGeom>
          <a:noFill/>
          <a:ln/>
        </p:spPr>
        <p:txBody>
          <a:bodyPr wrap="square" lIns="0" tIns="0" rIns="0" bIns="0" rtlCol="0" anchor="ctr"/>
          <a:lstStyle/>
          <a:p>
            <a:pPr indent="0" marL="0">
              <a:buNone/>
            </a:pPr>
            <a:r>
              <a:rPr lang="en-US" sz="5400" b="1" dirty="0">
                <a:solidFill>
                  <a:srgbClr val="245C36"/>
                </a:solidFill>
                <a:latin typeface="Cambria" pitchFamily="34" charset="0"/>
                <a:ea typeface="Cambria" pitchFamily="34" charset="-122"/>
                <a:cs typeface="Cambria" pitchFamily="34" charset="-120"/>
              </a:rPr>
              <a:t>1,329</a:t>
            </a:r>
            <a:endParaRPr lang="en-US" sz="5400" dirty="0"/>
          </a:p>
        </p:txBody>
      </p:sp>
      <p:sp>
        <p:nvSpPr>
          <p:cNvPr id="12" name="Text 9"/>
          <p:cNvSpPr txBox="1"/>
          <p:nvPr/>
        </p:nvSpPr>
        <p:spPr>
          <a:xfrm>
            <a:off x="3657600" y="3255264"/>
            <a:ext cx="2057400" cy="274320"/>
          </a:xfrm>
          <a:prstGeom prst="rect">
            <a:avLst/>
          </a:prstGeom>
          <a:noFill/>
          <a:ln/>
        </p:spPr>
        <p:txBody>
          <a:bodyPr wrap="square" lIns="0" tIns="0" rIns="0" bIns="0" rtlCol="0" anchor="ctr"/>
          <a:lstStyle/>
          <a:p>
            <a:pPr indent="0" marL="0">
              <a:buNone/>
            </a:pPr>
            <a:r>
              <a:rPr lang="en-US" sz="1400" b="1" dirty="0">
                <a:solidFill>
                  <a:srgbClr val="211C16"/>
                </a:solidFill>
                <a:latin typeface="Calibri" pitchFamily="34" charset="0"/>
                <a:ea typeface="Calibri" pitchFamily="34" charset="-122"/>
                <a:cs typeface="Calibri" pitchFamily="34" charset="-120"/>
              </a:rPr>
              <a:t>shares held</a:t>
            </a:r>
            <a:endParaRPr lang="en-US" sz="1400" dirty="0"/>
          </a:p>
        </p:txBody>
      </p:sp>
      <p:sp>
        <p:nvSpPr>
          <p:cNvPr id="13" name="Text 10"/>
          <p:cNvSpPr txBox="1"/>
          <p:nvPr/>
        </p:nvSpPr>
        <p:spPr>
          <a:xfrm>
            <a:off x="3657600" y="3538728"/>
            <a:ext cx="2057400" cy="274320"/>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₹13,290 of member capital</a:t>
            </a:r>
            <a:endParaRPr lang="en-US" sz="1150" dirty="0"/>
          </a:p>
        </p:txBody>
      </p:sp>
      <p:sp>
        <p:nvSpPr>
          <p:cNvPr id="14" name="Shape 11"/>
          <p:cNvSpPr/>
          <p:nvPr/>
        </p:nvSpPr>
        <p:spPr>
          <a:xfrm>
            <a:off x="6217920" y="2286000"/>
            <a:ext cx="2514600" cy="1783080"/>
          </a:xfrm>
          <a:prstGeom prst="roundRect">
            <a:avLst>
              <a:gd name="adj" fmla="val 5128"/>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5" name="Text 12"/>
          <p:cNvSpPr txBox="1"/>
          <p:nvPr/>
        </p:nvSpPr>
        <p:spPr>
          <a:xfrm>
            <a:off x="6446520" y="2450592"/>
            <a:ext cx="2057400" cy="777240"/>
          </a:xfrm>
          <a:prstGeom prst="rect">
            <a:avLst/>
          </a:prstGeom>
          <a:noFill/>
          <a:ln/>
        </p:spPr>
        <p:txBody>
          <a:bodyPr wrap="square" lIns="0" tIns="0" rIns="0" bIns="0" rtlCol="0" anchor="ctr"/>
          <a:lstStyle/>
          <a:p>
            <a:pPr indent="0" marL="0">
              <a:buNone/>
            </a:pPr>
            <a:r>
              <a:rPr lang="en-US" sz="5400" b="1" dirty="0">
                <a:solidFill>
                  <a:srgbClr val="245C36"/>
                </a:solidFill>
                <a:latin typeface="Cambria" pitchFamily="34" charset="0"/>
                <a:ea typeface="Cambria" pitchFamily="34" charset="-122"/>
                <a:cs typeface="Cambria" pitchFamily="34" charset="-120"/>
              </a:rPr>
              <a:t>9</a:t>
            </a:r>
            <a:endParaRPr lang="en-US" sz="5400" dirty="0"/>
          </a:p>
        </p:txBody>
      </p:sp>
      <p:sp>
        <p:nvSpPr>
          <p:cNvPr id="16" name="Text 13"/>
          <p:cNvSpPr txBox="1"/>
          <p:nvPr/>
        </p:nvSpPr>
        <p:spPr>
          <a:xfrm>
            <a:off x="6446520" y="3255264"/>
            <a:ext cx="2057400" cy="274320"/>
          </a:xfrm>
          <a:prstGeom prst="rect">
            <a:avLst/>
          </a:prstGeom>
          <a:noFill/>
          <a:ln/>
        </p:spPr>
        <p:txBody>
          <a:bodyPr wrap="square" lIns="0" tIns="0" rIns="0" bIns="0" rtlCol="0" anchor="ctr"/>
          <a:lstStyle/>
          <a:p>
            <a:pPr indent="0" marL="0">
              <a:buNone/>
            </a:pPr>
            <a:r>
              <a:rPr lang="en-US" sz="1400" b="1" dirty="0">
                <a:solidFill>
                  <a:srgbClr val="211C16"/>
                </a:solidFill>
                <a:latin typeface="Calibri" pitchFamily="34" charset="0"/>
                <a:ea typeface="Calibri" pitchFamily="34" charset="-122"/>
                <a:cs typeface="Calibri" pitchFamily="34" charset="-120"/>
              </a:rPr>
              <a:t>villages</a:t>
            </a:r>
            <a:endParaRPr lang="en-US" sz="1400" dirty="0"/>
          </a:p>
        </p:txBody>
      </p:sp>
      <p:sp>
        <p:nvSpPr>
          <p:cNvPr id="17" name="Text 14"/>
          <p:cNvSpPr txBox="1"/>
          <p:nvPr/>
        </p:nvSpPr>
        <p:spPr>
          <a:xfrm>
            <a:off x="6446520" y="3538728"/>
            <a:ext cx="2057400" cy="274320"/>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across five blocks</a:t>
            </a:r>
            <a:endParaRPr lang="en-US" sz="1150" dirty="0"/>
          </a:p>
        </p:txBody>
      </p:sp>
      <p:sp>
        <p:nvSpPr>
          <p:cNvPr id="18" name="Shape 15"/>
          <p:cNvSpPr/>
          <p:nvPr/>
        </p:nvSpPr>
        <p:spPr>
          <a:xfrm>
            <a:off x="9006840" y="2286000"/>
            <a:ext cx="2514600" cy="1783080"/>
          </a:xfrm>
          <a:prstGeom prst="roundRect">
            <a:avLst>
              <a:gd name="adj" fmla="val 5128"/>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9" name="Text 16"/>
          <p:cNvSpPr txBox="1"/>
          <p:nvPr/>
        </p:nvSpPr>
        <p:spPr>
          <a:xfrm>
            <a:off x="9235440" y="2450592"/>
            <a:ext cx="2057400" cy="777240"/>
          </a:xfrm>
          <a:prstGeom prst="rect">
            <a:avLst/>
          </a:prstGeom>
          <a:noFill/>
          <a:ln/>
        </p:spPr>
        <p:txBody>
          <a:bodyPr wrap="square" lIns="0" tIns="0" rIns="0" bIns="0" rtlCol="0" anchor="ctr"/>
          <a:lstStyle/>
          <a:p>
            <a:pPr indent="0" marL="0">
              <a:buNone/>
            </a:pPr>
            <a:r>
              <a:rPr lang="en-US" sz="5400" b="1" dirty="0">
                <a:solidFill>
                  <a:srgbClr val="245C36"/>
                </a:solidFill>
                <a:latin typeface="Cambria" pitchFamily="34" charset="0"/>
                <a:ea typeface="Cambria" pitchFamily="34" charset="-122"/>
                <a:cs typeface="Cambria" pitchFamily="34" charset="-120"/>
              </a:rPr>
              <a:t>5</a:t>
            </a:r>
            <a:endParaRPr lang="en-US" sz="5400" dirty="0"/>
          </a:p>
        </p:txBody>
      </p:sp>
      <p:sp>
        <p:nvSpPr>
          <p:cNvPr id="20" name="Text 17"/>
          <p:cNvSpPr txBox="1"/>
          <p:nvPr/>
        </p:nvSpPr>
        <p:spPr>
          <a:xfrm>
            <a:off x="9235440" y="3255264"/>
            <a:ext cx="2057400" cy="274320"/>
          </a:xfrm>
          <a:prstGeom prst="rect">
            <a:avLst/>
          </a:prstGeom>
          <a:noFill/>
          <a:ln/>
        </p:spPr>
        <p:txBody>
          <a:bodyPr wrap="square" lIns="0" tIns="0" rIns="0" bIns="0" rtlCol="0" anchor="ctr"/>
          <a:lstStyle/>
          <a:p>
            <a:pPr indent="0" marL="0">
              <a:buNone/>
            </a:pPr>
            <a:r>
              <a:rPr lang="en-US" sz="1400" b="1" dirty="0">
                <a:solidFill>
                  <a:srgbClr val="211C16"/>
                </a:solidFill>
                <a:latin typeface="Calibri" pitchFamily="34" charset="0"/>
                <a:ea typeface="Calibri" pitchFamily="34" charset="-122"/>
                <a:cs typeface="Calibri" pitchFamily="34" charset="-120"/>
              </a:rPr>
              <a:t>promoter-directors</a:t>
            </a:r>
            <a:endParaRPr lang="en-US" sz="1400" dirty="0"/>
          </a:p>
        </p:txBody>
      </p:sp>
      <p:sp>
        <p:nvSpPr>
          <p:cNvPr id="21" name="Text 18"/>
          <p:cNvSpPr txBox="1"/>
          <p:nvPr/>
        </p:nvSpPr>
        <p:spPr>
          <a:xfrm>
            <a:off x="9235440" y="3538728"/>
            <a:ext cx="2057400" cy="274320"/>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appointed 8 April 2026</a:t>
            </a:r>
            <a:endParaRPr lang="en-US" sz="1150" dirty="0"/>
          </a:p>
        </p:txBody>
      </p:sp>
      <p:sp>
        <p:nvSpPr>
          <p:cNvPr id="22" name="Shape 19"/>
          <p:cNvSpPr/>
          <p:nvPr/>
        </p:nvSpPr>
        <p:spPr>
          <a:xfrm>
            <a:off x="640080" y="4206240"/>
            <a:ext cx="3444240" cy="1645920"/>
          </a:xfrm>
          <a:prstGeom prst="roundRect">
            <a:avLst>
              <a:gd name="adj" fmla="val 5556"/>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3" name="Shape 20"/>
          <p:cNvSpPr/>
          <p:nvPr/>
        </p:nvSpPr>
        <p:spPr>
          <a:xfrm>
            <a:off x="896112" y="4462272"/>
            <a:ext cx="420624" cy="420624"/>
          </a:xfrm>
          <a:prstGeom prst="ellipse">
            <a:avLst/>
          </a:prstGeom>
          <a:solidFill>
            <a:srgbClr val="5C9A4F"/>
          </a:solidFill>
          <a:ln/>
        </p:spPr>
      </p:sp>
      <p:sp>
        <p:nvSpPr>
          <p:cNvPr id="24" name="Text 21"/>
          <p:cNvSpPr txBox="1"/>
          <p:nvPr/>
        </p:nvSpPr>
        <p:spPr>
          <a:xfrm>
            <a:off x="896112" y="44622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2"/>
          <p:cNvSpPr txBox="1"/>
          <p:nvPr/>
        </p:nvSpPr>
        <p:spPr>
          <a:xfrm>
            <a:off x="1463040" y="443484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Legal form</a:t>
            </a:r>
            <a:endParaRPr lang="en-US" sz="1600" dirty="0"/>
          </a:p>
        </p:txBody>
      </p:sp>
      <p:sp>
        <p:nvSpPr>
          <p:cNvPr id="26" name="Text 23"/>
          <p:cNvSpPr txBox="1"/>
          <p:nvPr/>
        </p:nvSpPr>
        <p:spPr>
          <a:xfrm>
            <a:off x="1463040" y="4791456"/>
            <a:ext cx="2365248" cy="85953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Producer Company under Part IXA of the Companies Act — cooperative principles, company-grade governance.</a:t>
            </a:r>
            <a:endParaRPr lang="en-US" sz="1300" dirty="0"/>
          </a:p>
        </p:txBody>
      </p:sp>
      <p:sp>
        <p:nvSpPr>
          <p:cNvPr id="27" name="Shape 24"/>
          <p:cNvSpPr/>
          <p:nvPr/>
        </p:nvSpPr>
        <p:spPr>
          <a:xfrm>
            <a:off x="4358640" y="4206240"/>
            <a:ext cx="3444240" cy="1645920"/>
          </a:xfrm>
          <a:prstGeom prst="roundRect">
            <a:avLst>
              <a:gd name="adj" fmla="val 5556"/>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8" name="Shape 25"/>
          <p:cNvSpPr/>
          <p:nvPr/>
        </p:nvSpPr>
        <p:spPr>
          <a:xfrm>
            <a:off x="4614672" y="4462272"/>
            <a:ext cx="420624" cy="420624"/>
          </a:xfrm>
          <a:prstGeom prst="ellipse">
            <a:avLst/>
          </a:prstGeom>
          <a:solidFill>
            <a:srgbClr val="5C9A4F"/>
          </a:solidFill>
          <a:ln/>
        </p:spPr>
      </p:sp>
      <p:sp>
        <p:nvSpPr>
          <p:cNvPr id="29" name="Text 26"/>
          <p:cNvSpPr txBox="1"/>
          <p:nvPr/>
        </p:nvSpPr>
        <p:spPr>
          <a:xfrm>
            <a:off x="4614672" y="44622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7"/>
          <p:cNvSpPr txBox="1"/>
          <p:nvPr/>
        </p:nvSpPr>
        <p:spPr>
          <a:xfrm>
            <a:off x="5181600" y="443484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Where we work</a:t>
            </a:r>
            <a:endParaRPr lang="en-US" sz="1600" dirty="0"/>
          </a:p>
        </p:txBody>
      </p:sp>
      <p:sp>
        <p:nvSpPr>
          <p:cNvPr id="31" name="Text 28"/>
          <p:cNvSpPr txBox="1"/>
          <p:nvPr/>
        </p:nvSpPr>
        <p:spPr>
          <a:xfrm>
            <a:off x="5181600" y="4791456"/>
            <a:ext cx="2365248" cy="85953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Tindwari, Badokhar Khurd, Banda Sadar, Mahoba and Jalaun blocks in the Bundelkhand region.</a:t>
            </a:r>
            <a:endParaRPr lang="en-US" sz="1300" dirty="0"/>
          </a:p>
        </p:txBody>
      </p:sp>
      <p:sp>
        <p:nvSpPr>
          <p:cNvPr id="32" name="Shape 29"/>
          <p:cNvSpPr/>
          <p:nvPr/>
        </p:nvSpPr>
        <p:spPr>
          <a:xfrm>
            <a:off x="8077200" y="4206240"/>
            <a:ext cx="3444240" cy="1645920"/>
          </a:xfrm>
          <a:prstGeom prst="roundRect">
            <a:avLst>
              <a:gd name="adj" fmla="val 5556"/>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33" name="Shape 30"/>
          <p:cNvSpPr/>
          <p:nvPr/>
        </p:nvSpPr>
        <p:spPr>
          <a:xfrm>
            <a:off x="8333232" y="4462272"/>
            <a:ext cx="420624" cy="420624"/>
          </a:xfrm>
          <a:prstGeom prst="ellipse">
            <a:avLst/>
          </a:prstGeom>
          <a:solidFill>
            <a:srgbClr val="5C9A4F"/>
          </a:solidFill>
          <a:ln/>
        </p:spPr>
      </p:sp>
      <p:sp>
        <p:nvSpPr>
          <p:cNvPr id="34" name="Text 31"/>
          <p:cNvSpPr txBox="1"/>
          <p:nvPr/>
        </p:nvSpPr>
        <p:spPr>
          <a:xfrm>
            <a:off x="8333232" y="44622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5" name="Text 32"/>
          <p:cNvSpPr txBox="1"/>
          <p:nvPr/>
        </p:nvSpPr>
        <p:spPr>
          <a:xfrm>
            <a:off x="8900160" y="443484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What we handle</a:t>
            </a:r>
            <a:endParaRPr lang="en-US" sz="1600" dirty="0"/>
          </a:p>
        </p:txBody>
      </p:sp>
      <p:sp>
        <p:nvSpPr>
          <p:cNvPr id="36" name="Text 33"/>
          <p:cNvSpPr txBox="1"/>
          <p:nvPr/>
        </p:nvSpPr>
        <p:spPr>
          <a:xfrm>
            <a:off x="8900160" y="4791456"/>
            <a:ext cx="2365248" cy="85953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Organic pulses, wheat, oilseeds and seasonal vegetables — pooled, graded and sold collectively.</a:t>
            </a:r>
            <a:endParaRPr lang="en-US" sz="1300" dirty="0"/>
          </a:p>
        </p:txBody>
      </p:sp>
      <p:sp>
        <p:nvSpPr>
          <p:cNvPr id="37" name="Text 34"/>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6A63"/>
                </a:solidFill>
                <a:latin typeface="Calibri" pitchFamily="34" charset="0"/>
                <a:ea typeface="Calibri" pitchFamily="34" charset="-122"/>
                <a:cs typeface="Calibri" pitchFamily="34" charset="-120"/>
              </a:rPr>
              <a:t>Member and share figures as recorded on the company member register.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WHO WE ARE</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A collective of farmers in Bundelkhand</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572768"/>
            <a:ext cx="6492240" cy="685800"/>
          </a:xfrm>
          <a:prstGeom prst="rect">
            <a:avLst/>
          </a:prstGeom>
          <a:noFill/>
          <a:ln/>
        </p:spPr>
        <p:txBody>
          <a:bodyPr wrap="square" lIns="0" tIns="0" rIns="0" bIns="0" rtlCol="0" anchor="t"/>
          <a:lstStyle/>
          <a:p>
            <a:pPr indent="0" marL="0">
              <a:lnSpc>
                <a:spcPts val="2500"/>
              </a:lnSpc>
              <a:buNone/>
            </a:pPr>
            <a:r>
              <a:rPr lang="en-US" sz="1550" b="1" dirty="0">
                <a:solidFill>
                  <a:srgbClr val="211C16"/>
                </a:solidFill>
                <a:latin typeface="Calibri" pitchFamily="34" charset="0"/>
                <a:ea typeface="Calibri" pitchFamily="34" charset="-122"/>
                <a:cs typeface="Calibri" pitchFamily="34" charset="-120"/>
              </a:rPr>
              <a:t>Bundelkhand is hard country to farm. </a:t>
            </a:r>
            <a:pPr indent="0" marL="0">
              <a:lnSpc>
                <a:spcPts val="2500"/>
              </a:lnSpc>
              <a:buNone/>
            </a:pPr>
            <a:r>
              <a:rPr lang="en-US" sz="1550" dirty="0">
                <a:solidFill>
                  <a:srgbClr val="211C16"/>
                </a:solidFill>
                <a:latin typeface="Calibri" pitchFamily="34" charset="0"/>
                <a:ea typeface="Calibri" pitchFamily="34" charset="-122"/>
                <a:cs typeface="Calibri" pitchFamily="34" charset="-120"/>
              </a:rPr>
              <a:t>Rainfall is unreliable, holdings are small, and a farmer selling alone has almost no bargaining power at the mandi.</a:t>
            </a:r>
            <a:endParaRPr lang="en-US" sz="1550" dirty="0"/>
          </a:p>
        </p:txBody>
      </p:sp>
      <p:sp>
        <p:nvSpPr>
          <p:cNvPr id="6" name="Text 3"/>
          <p:cNvSpPr txBox="1"/>
          <p:nvPr/>
        </p:nvSpPr>
        <p:spPr>
          <a:xfrm>
            <a:off x="640080" y="2395728"/>
            <a:ext cx="6492240" cy="2651760"/>
          </a:xfrm>
          <a:prstGeom prst="rect">
            <a:avLst/>
          </a:prstGeom>
          <a:noFill/>
          <a:ln/>
        </p:spPr>
        <p:txBody>
          <a:bodyPr wrap="square" lIns="0" tIns="0" rIns="0" bIns="0" rtlCol="0" anchor="t"/>
          <a:lstStyle/>
          <a:p>
            <a:pPr indent="0" marL="0">
              <a:lnSpc>
                <a:spcPts val="2300"/>
              </a:lnSpc>
              <a:buNone/>
            </a:pPr>
            <a:r>
              <a:rPr lang="en-US" sz="1400" dirty="0">
                <a:solidFill>
                  <a:srgbClr val="211C16"/>
                </a:solidFill>
                <a:latin typeface="Calibri" pitchFamily="34" charset="0"/>
                <a:ea typeface="Calibri" pitchFamily="34" charset="-122"/>
                <a:cs typeface="Calibri" pitchFamily="34" charset="-120"/>
              </a:rPr>
              <a:t>Gugauli Organic Producer Company Limited was formed in April 2026 by ten farmers from Gugauli and the villages around it, who decided that pooling what they grow would get them further than selling it one sack at a time.</a:t>
            </a:r>
            <a:endParaRPr lang="en-US" sz="1400" dirty="0"/>
          </a:p>
          <a:p>
            <a:pPr indent="0" marL="0">
              <a:lnSpc>
                <a:spcPts val="2300"/>
              </a:lnSpc>
              <a:buNone/>
            </a:pPr>
            <a:endParaRPr lang="en-US" sz="1400" dirty="0"/>
          </a:p>
          <a:p>
            <a:pPr indent="0" marL="0">
              <a:lnSpc>
                <a:spcPts val="2300"/>
              </a:lnSpc>
              <a:buNone/>
            </a:pPr>
            <a:r>
              <a:rPr lang="en-US" sz="1400" dirty="0">
                <a:solidFill>
                  <a:srgbClr val="211C16"/>
                </a:solidFill>
                <a:latin typeface="Calibri" pitchFamily="34" charset="0"/>
                <a:ea typeface="Calibri" pitchFamily="34" charset="-122"/>
                <a:cs typeface="Calibri" pitchFamily="34" charset="-120"/>
              </a:rPr>
              <a:t>The company is owned entirely by its farmer-members. It buys inputs in bulk, aggregates and grades produce, and negotiates as one seller instead of two hundred. Profit that would otherwise go to intermediaries stays with the people who grew the crop.</a:t>
            </a:r>
            <a:endParaRPr lang="en-US" sz="1400" dirty="0"/>
          </a:p>
        </p:txBody>
      </p:sp>
      <p:sp>
        <p:nvSpPr>
          <p:cNvPr id="7" name="Shape 4"/>
          <p:cNvSpPr/>
          <p:nvPr/>
        </p:nvSpPr>
        <p:spPr>
          <a:xfrm>
            <a:off x="7406640" y="1554480"/>
            <a:ext cx="4114800" cy="4206240"/>
          </a:xfrm>
          <a:prstGeom prst="roundRect">
            <a:avLst>
              <a:gd name="adj" fmla="val 2667"/>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8046720" y="1828800"/>
            <a:ext cx="2834640" cy="1453896"/>
          </a:xfrm>
          <a:prstGeom prst="rect">
            <a:avLst/>
          </a:prstGeom>
        </p:spPr>
      </p:pic>
      <p:sp>
        <p:nvSpPr>
          <p:cNvPr id="9" name="Text 5"/>
          <p:cNvSpPr txBox="1"/>
          <p:nvPr/>
        </p:nvSpPr>
        <p:spPr>
          <a:xfrm>
            <a:off x="7635240" y="3364992"/>
            <a:ext cx="3657600" cy="320040"/>
          </a:xfrm>
          <a:prstGeom prst="rect">
            <a:avLst/>
          </a:prstGeom>
          <a:noFill/>
          <a:ln/>
        </p:spPr>
        <p:txBody>
          <a:bodyPr wrap="square" lIns="0" tIns="0" rIns="0" bIns="0" rtlCol="0" anchor="ctr"/>
          <a:lstStyle/>
          <a:p>
            <a:pPr algn="ctr" indent="0" marL="0">
              <a:buNone/>
            </a:pPr>
            <a:r>
              <a:rPr lang="en-US" sz="1900" b="1" i="1" dirty="0">
                <a:solidFill>
                  <a:srgbClr val="245C36"/>
                </a:solidFill>
                <a:latin typeface="Cambria" pitchFamily="34" charset="0"/>
                <a:ea typeface="Cambria" pitchFamily="34" charset="-122"/>
                <a:cs typeface="Cambria" pitchFamily="34" charset="-120"/>
              </a:rPr>
              <a:t>Growing for Life</a:t>
            </a:r>
            <a:endParaRPr lang="en-US" sz="1900" dirty="0"/>
          </a:p>
        </p:txBody>
      </p:sp>
      <p:sp>
        <p:nvSpPr>
          <p:cNvPr id="10" name="Text 6"/>
          <p:cNvSpPr txBox="1"/>
          <p:nvPr/>
        </p:nvSpPr>
        <p:spPr>
          <a:xfrm>
            <a:off x="7635240" y="3685032"/>
            <a:ext cx="3657600" cy="256032"/>
          </a:xfrm>
          <a:prstGeom prst="rect">
            <a:avLst/>
          </a:prstGeom>
          <a:noFill/>
          <a:ln/>
        </p:spPr>
        <p:txBody>
          <a:bodyPr wrap="square" lIns="0" tIns="0" rIns="0" bIns="0" rtlCol="0" anchor="ctr"/>
          <a:lstStyle/>
          <a:p>
            <a:pPr algn="ctr" indent="0" marL="0">
              <a:buNone/>
            </a:pPr>
            <a:r>
              <a:rPr lang="en-US" sz="1050" b="1" spc="160" kern="0" dirty="0">
                <a:solidFill>
                  <a:srgbClr val="5C9A4F"/>
                </a:solidFill>
                <a:latin typeface="Calibri" pitchFamily="34" charset="0"/>
                <a:ea typeface="Calibri" pitchFamily="34" charset="-122"/>
                <a:cs typeface="Calibri" pitchFamily="34" charset="-120"/>
              </a:rPr>
              <a:t>CERTIFIED ORGANIC FARMERS</a:t>
            </a:r>
            <a:endParaRPr lang="en-US" sz="1050" dirty="0"/>
          </a:p>
        </p:txBody>
      </p:sp>
      <p:sp>
        <p:nvSpPr>
          <p:cNvPr id="11" name="Text 7"/>
          <p:cNvSpPr txBox="1"/>
          <p:nvPr/>
        </p:nvSpPr>
        <p:spPr>
          <a:xfrm>
            <a:off x="7635240" y="4023360"/>
            <a:ext cx="1463040" cy="365760"/>
          </a:xfrm>
          <a:prstGeom prst="rect">
            <a:avLst/>
          </a:prstGeom>
          <a:noFill/>
          <a:ln/>
        </p:spPr>
        <p:txBody>
          <a:bodyPr wrap="square" lIns="0" tIns="0" rIns="0" bIns="0" rtlCol="0" anchor="t"/>
          <a:lstStyle/>
          <a:p>
            <a:pPr indent="0" marL="0">
              <a:buNone/>
            </a:pPr>
            <a:r>
              <a:rPr lang="en-US" sz="1150" b="1" dirty="0">
                <a:solidFill>
                  <a:srgbClr val="6E6A63"/>
                </a:solidFill>
                <a:latin typeface="Calibri" pitchFamily="34" charset="0"/>
                <a:ea typeface="Calibri" pitchFamily="34" charset="-122"/>
                <a:cs typeface="Calibri" pitchFamily="34" charset="-120"/>
              </a:rPr>
              <a:t>Incorporated</a:t>
            </a:r>
            <a:endParaRPr lang="en-US" sz="1150" dirty="0"/>
          </a:p>
        </p:txBody>
      </p:sp>
      <p:sp>
        <p:nvSpPr>
          <p:cNvPr id="12" name="Text 8"/>
          <p:cNvSpPr txBox="1"/>
          <p:nvPr/>
        </p:nvSpPr>
        <p:spPr>
          <a:xfrm>
            <a:off x="9144000" y="4023360"/>
            <a:ext cx="2194560" cy="365760"/>
          </a:xfrm>
          <a:prstGeom prst="rect">
            <a:avLst/>
          </a:prstGeom>
          <a:noFill/>
          <a:ln/>
        </p:spPr>
        <p:txBody>
          <a:bodyPr wrap="square" lIns="0" tIns="0" rIns="0" bIns="0" rtlCol="0" anchor="t"/>
          <a:lstStyle/>
          <a:p>
            <a:pPr indent="0" marL="0">
              <a:buNone/>
            </a:pPr>
            <a:r>
              <a:rPr lang="en-US" sz="1150" dirty="0">
                <a:solidFill>
                  <a:srgbClr val="211C16"/>
                </a:solidFill>
                <a:latin typeface="Calibri" pitchFamily="34" charset="0"/>
                <a:ea typeface="Calibri" pitchFamily="34" charset="-122"/>
                <a:cs typeface="Calibri" pitchFamily="34" charset="-120"/>
              </a:rPr>
              <a:t>8 April 2026</a:t>
            </a:r>
            <a:endParaRPr lang="en-US" sz="1150" dirty="0"/>
          </a:p>
        </p:txBody>
      </p:sp>
      <p:sp>
        <p:nvSpPr>
          <p:cNvPr id="13" name="Text 9"/>
          <p:cNvSpPr txBox="1"/>
          <p:nvPr/>
        </p:nvSpPr>
        <p:spPr>
          <a:xfrm>
            <a:off x="7635240" y="4453128"/>
            <a:ext cx="1463040" cy="365760"/>
          </a:xfrm>
          <a:prstGeom prst="rect">
            <a:avLst/>
          </a:prstGeom>
          <a:noFill/>
          <a:ln/>
        </p:spPr>
        <p:txBody>
          <a:bodyPr wrap="square" lIns="0" tIns="0" rIns="0" bIns="0" rtlCol="0" anchor="t"/>
          <a:lstStyle/>
          <a:p>
            <a:pPr indent="0" marL="0">
              <a:buNone/>
            </a:pPr>
            <a:r>
              <a:rPr lang="en-US" sz="1150" b="1" dirty="0">
                <a:solidFill>
                  <a:srgbClr val="6E6A63"/>
                </a:solidFill>
                <a:latin typeface="Calibri" pitchFamily="34" charset="0"/>
                <a:ea typeface="Calibri" pitchFamily="34" charset="-122"/>
                <a:cs typeface="Calibri" pitchFamily="34" charset="-120"/>
              </a:rPr>
              <a:t>Registered office</a:t>
            </a:r>
            <a:endParaRPr lang="en-US" sz="1150" dirty="0"/>
          </a:p>
        </p:txBody>
      </p:sp>
      <p:sp>
        <p:nvSpPr>
          <p:cNvPr id="14" name="Text 10"/>
          <p:cNvSpPr txBox="1"/>
          <p:nvPr/>
        </p:nvSpPr>
        <p:spPr>
          <a:xfrm>
            <a:off x="9144000" y="4453128"/>
            <a:ext cx="2194560" cy="365760"/>
          </a:xfrm>
          <a:prstGeom prst="rect">
            <a:avLst/>
          </a:prstGeom>
          <a:noFill/>
          <a:ln/>
        </p:spPr>
        <p:txBody>
          <a:bodyPr wrap="square" lIns="0" tIns="0" rIns="0" bIns="0" rtlCol="0" anchor="t"/>
          <a:lstStyle/>
          <a:p>
            <a:pPr indent="0" marL="0">
              <a:buNone/>
            </a:pPr>
            <a:r>
              <a:rPr lang="en-US" sz="1150" dirty="0">
                <a:solidFill>
                  <a:srgbClr val="211C16"/>
                </a:solidFill>
                <a:latin typeface="Calibri" pitchFamily="34" charset="0"/>
                <a:ea typeface="Calibri" pitchFamily="34" charset="-122"/>
                <a:cs typeface="Calibri" pitchFamily="34" charset="-120"/>
              </a:rPr>
              <a:t>Piparahari, Tindwari, Banda, UP – 210123</a:t>
            </a:r>
            <a:endParaRPr lang="en-US" sz="1150" dirty="0"/>
          </a:p>
        </p:txBody>
      </p:sp>
      <p:sp>
        <p:nvSpPr>
          <p:cNvPr id="15" name="Text 11"/>
          <p:cNvSpPr txBox="1"/>
          <p:nvPr/>
        </p:nvSpPr>
        <p:spPr>
          <a:xfrm>
            <a:off x="7635240" y="4882896"/>
            <a:ext cx="1463040" cy="365760"/>
          </a:xfrm>
          <a:prstGeom prst="rect">
            <a:avLst/>
          </a:prstGeom>
          <a:noFill/>
          <a:ln/>
        </p:spPr>
        <p:txBody>
          <a:bodyPr wrap="square" lIns="0" tIns="0" rIns="0" bIns="0" rtlCol="0" anchor="t"/>
          <a:lstStyle/>
          <a:p>
            <a:pPr indent="0" marL="0">
              <a:buNone/>
            </a:pPr>
            <a:r>
              <a:rPr lang="en-US" sz="1150" b="1" dirty="0">
                <a:solidFill>
                  <a:srgbClr val="6E6A63"/>
                </a:solidFill>
                <a:latin typeface="Calibri" pitchFamily="34" charset="0"/>
                <a:ea typeface="Calibri" pitchFamily="34" charset="-122"/>
                <a:cs typeface="Calibri" pitchFamily="34" charset="-120"/>
              </a:rPr>
              <a:t>Members</a:t>
            </a:r>
            <a:endParaRPr lang="en-US" sz="1150" dirty="0"/>
          </a:p>
        </p:txBody>
      </p:sp>
      <p:sp>
        <p:nvSpPr>
          <p:cNvPr id="16" name="Text 12"/>
          <p:cNvSpPr txBox="1"/>
          <p:nvPr/>
        </p:nvSpPr>
        <p:spPr>
          <a:xfrm>
            <a:off x="9144000" y="4882896"/>
            <a:ext cx="2194560" cy="365760"/>
          </a:xfrm>
          <a:prstGeom prst="rect">
            <a:avLst/>
          </a:prstGeom>
          <a:noFill/>
          <a:ln/>
        </p:spPr>
        <p:txBody>
          <a:bodyPr wrap="square" lIns="0" tIns="0" rIns="0" bIns="0" rtlCol="0" anchor="t"/>
          <a:lstStyle/>
          <a:p>
            <a:pPr indent="0" marL="0">
              <a:buNone/>
            </a:pPr>
            <a:r>
              <a:rPr lang="en-US" sz="1150" dirty="0">
                <a:solidFill>
                  <a:srgbClr val="211C16"/>
                </a:solidFill>
                <a:latin typeface="Calibri" pitchFamily="34" charset="0"/>
                <a:ea typeface="Calibri" pitchFamily="34" charset="-122"/>
                <a:cs typeface="Calibri" pitchFamily="34" charset="-120"/>
              </a:rPr>
              <a:t>201 shareholder-members</a:t>
            </a:r>
            <a:endParaRPr lang="en-US" sz="1150" dirty="0"/>
          </a:p>
        </p:txBody>
      </p:sp>
      <p:sp>
        <p:nvSpPr>
          <p:cNvPr id="17" name="Text 13"/>
          <p:cNvSpPr txBox="1"/>
          <p:nvPr/>
        </p:nvSpPr>
        <p:spPr>
          <a:xfrm>
            <a:off x="7635240" y="5312664"/>
            <a:ext cx="1463040" cy="365760"/>
          </a:xfrm>
          <a:prstGeom prst="rect">
            <a:avLst/>
          </a:prstGeom>
          <a:noFill/>
          <a:ln/>
        </p:spPr>
        <p:txBody>
          <a:bodyPr wrap="square" lIns="0" tIns="0" rIns="0" bIns="0" rtlCol="0" anchor="t"/>
          <a:lstStyle/>
          <a:p>
            <a:pPr indent="0" marL="0">
              <a:buNone/>
            </a:pPr>
            <a:r>
              <a:rPr lang="en-US" sz="1150" b="1" dirty="0">
                <a:solidFill>
                  <a:srgbClr val="6E6A63"/>
                </a:solidFill>
                <a:latin typeface="Calibri" pitchFamily="34" charset="0"/>
                <a:ea typeface="Calibri" pitchFamily="34" charset="-122"/>
                <a:cs typeface="Calibri" pitchFamily="34" charset="-120"/>
              </a:rPr>
              <a:t>Authorised capital</a:t>
            </a:r>
            <a:endParaRPr lang="en-US" sz="1150" dirty="0"/>
          </a:p>
        </p:txBody>
      </p:sp>
      <p:sp>
        <p:nvSpPr>
          <p:cNvPr id="18" name="Text 14"/>
          <p:cNvSpPr txBox="1"/>
          <p:nvPr/>
        </p:nvSpPr>
        <p:spPr>
          <a:xfrm>
            <a:off x="9144000" y="5312664"/>
            <a:ext cx="2194560" cy="365760"/>
          </a:xfrm>
          <a:prstGeom prst="rect">
            <a:avLst/>
          </a:prstGeom>
          <a:noFill/>
          <a:ln/>
        </p:spPr>
        <p:txBody>
          <a:bodyPr wrap="square" lIns="0" tIns="0" rIns="0" bIns="0" rtlCol="0" anchor="t"/>
          <a:lstStyle/>
          <a:p>
            <a:pPr indent="0" marL="0">
              <a:buNone/>
            </a:pPr>
            <a:r>
              <a:rPr lang="en-US" sz="1150" dirty="0">
                <a:solidFill>
                  <a:srgbClr val="211C16"/>
                </a:solidFill>
                <a:latin typeface="Calibri" pitchFamily="34" charset="0"/>
                <a:ea typeface="Calibri" pitchFamily="34" charset="-122"/>
                <a:cs typeface="Calibri" pitchFamily="34" charset="-120"/>
              </a:rPr>
              <a:t>₹1,00,000</a:t>
            </a:r>
            <a:endParaRPr lang="en-US" sz="1150" dirty="0"/>
          </a:p>
        </p:txBody>
      </p:sp>
      <p:sp>
        <p:nvSpPr>
          <p:cNvPr id="19" name="Text 15"/>
          <p:cNvSpPr txBox="1"/>
          <p:nvPr/>
        </p:nvSpPr>
        <p:spPr>
          <a:xfrm>
            <a:off x="640080" y="5166360"/>
            <a:ext cx="6492240" cy="777240"/>
          </a:xfrm>
          <a:prstGeom prst="rect">
            <a:avLst/>
          </a:prstGeom>
          <a:noFill/>
          <a:ln/>
        </p:spPr>
        <p:txBody>
          <a:bodyPr wrap="square" lIns="0" tIns="0" rIns="0" bIns="0" rtlCol="0" anchor="t"/>
          <a:lstStyle/>
          <a:p>
            <a:pPr indent="0" marL="0">
              <a:lnSpc>
                <a:spcPts val="2400"/>
              </a:lnSpc>
              <a:buNone/>
            </a:pPr>
            <a:r>
              <a:rPr lang="en-US" sz="1600" i="1" dirty="0">
                <a:solidFill>
                  <a:srgbClr val="6B4A2B"/>
                </a:solidFill>
                <a:latin typeface="Cambria" pitchFamily="34" charset="0"/>
                <a:ea typeface="Cambria" pitchFamily="34" charset="-122"/>
                <a:cs typeface="Cambria" pitchFamily="34" charset="-120"/>
              </a:rPr>
              <a:t>Two hundred farmers selling one sack each are two hundred price-takers.</a:t>
            </a:r>
            <a:endParaRPr lang="en-US" sz="1600" dirty="0"/>
          </a:p>
          <a:p>
            <a:pPr indent="0" marL="0">
              <a:lnSpc>
                <a:spcPts val="2400"/>
              </a:lnSpc>
              <a:buNone/>
            </a:pPr>
            <a:r>
              <a:rPr lang="en-US" sz="1600" i="1" dirty="0">
                <a:solidFill>
                  <a:srgbClr val="6B4A2B"/>
                </a:solidFill>
                <a:latin typeface="Cambria" pitchFamily="34" charset="0"/>
                <a:ea typeface="Cambria" pitchFamily="34" charset="-122"/>
                <a:cs typeface="Cambria" pitchFamily="34" charset="-120"/>
              </a:rPr>
              <a:t>Two hundred farmers selling together are one seller.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STRUCTURE</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What is a Farmer Producer Company?</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99616"/>
            <a:ext cx="9509760" cy="548640"/>
          </a:xfrm>
          <a:prstGeom prst="rect">
            <a:avLst/>
          </a:prstGeom>
          <a:noFill/>
          <a:ln/>
        </p:spPr>
        <p:txBody>
          <a:bodyPr wrap="square" lIns="0" tIns="0" rIns="0" bIns="0" rtlCol="0" anchor="t"/>
          <a:lstStyle/>
          <a:p>
            <a:pPr indent="0" marL="0">
              <a:lnSpc>
                <a:spcPts val="2300"/>
              </a:lnSpc>
              <a:buNone/>
            </a:pPr>
            <a:r>
              <a:rPr lang="en-US" sz="1500" dirty="0">
                <a:solidFill>
                  <a:srgbClr val="211C16"/>
                </a:solidFill>
                <a:latin typeface="Calibri" pitchFamily="34" charset="0"/>
                <a:ea typeface="Calibri" pitchFamily="34" charset="-122"/>
                <a:cs typeface="Calibri" pitchFamily="34" charset="-120"/>
              </a:rPr>
              <a:t>A hybrid form created by Part IXA of the Companies Act — it runs on cooperative principles, but with the accountability and market access of a registered company.</a:t>
            </a:r>
            <a:endParaRPr lang="en-US" sz="1500" dirty="0"/>
          </a:p>
        </p:txBody>
      </p:sp>
      <p:sp>
        <p:nvSpPr>
          <p:cNvPr id="6" name="Shape 3"/>
          <p:cNvSpPr/>
          <p:nvPr/>
        </p:nvSpPr>
        <p:spPr>
          <a:xfrm>
            <a:off x="640080" y="2395728"/>
            <a:ext cx="475488" cy="475488"/>
          </a:xfrm>
          <a:prstGeom prst="ellipse">
            <a:avLst/>
          </a:prstGeom>
          <a:solidFill>
            <a:srgbClr val="245C36"/>
          </a:solidFill>
          <a:ln/>
        </p:spPr>
      </p:sp>
      <p:sp>
        <p:nvSpPr>
          <p:cNvPr id="7" name="Text 4"/>
          <p:cNvSpPr txBox="1"/>
          <p:nvPr/>
        </p:nvSpPr>
        <p:spPr>
          <a:xfrm>
            <a:off x="640080" y="239572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5"/>
          <p:cNvSpPr txBox="1"/>
          <p:nvPr/>
        </p:nvSpPr>
        <p:spPr>
          <a:xfrm>
            <a:off x="1353312" y="2359152"/>
            <a:ext cx="3108960" cy="365760"/>
          </a:xfrm>
          <a:prstGeom prst="rect">
            <a:avLst/>
          </a:prstGeom>
          <a:noFill/>
          <a:ln/>
        </p:spPr>
        <p:txBody>
          <a:bodyPr wrap="square" lIns="0" tIns="0" rIns="0" bIns="0" rtlCol="0" anchor="t"/>
          <a:lstStyle/>
          <a:p>
            <a:pPr indent="0" marL="0">
              <a:buNone/>
            </a:pPr>
            <a:r>
              <a:rPr lang="en-US" sz="1700" b="1" dirty="0">
                <a:solidFill>
                  <a:srgbClr val="245C36"/>
                </a:solidFill>
                <a:latin typeface="Cambria" pitchFamily="34" charset="0"/>
                <a:ea typeface="Cambria" pitchFamily="34" charset="-122"/>
                <a:cs typeface="Cambria" pitchFamily="34" charset="-120"/>
              </a:rPr>
              <a:t>Only farmers can own it</a:t>
            </a:r>
            <a:endParaRPr lang="en-US" sz="1700" dirty="0"/>
          </a:p>
        </p:txBody>
      </p:sp>
      <p:sp>
        <p:nvSpPr>
          <p:cNvPr id="9" name="Text 6"/>
          <p:cNvSpPr txBox="1"/>
          <p:nvPr/>
        </p:nvSpPr>
        <p:spPr>
          <a:xfrm>
            <a:off x="4526280" y="2377440"/>
            <a:ext cx="6995160" cy="822960"/>
          </a:xfrm>
          <a:prstGeom prst="rect">
            <a:avLst/>
          </a:prstGeom>
          <a:noFill/>
          <a:ln/>
        </p:spPr>
        <p:txBody>
          <a:bodyPr wrap="square" lIns="0" tIns="0" rIns="0" bIns="0" rtlCol="0" anchor="t"/>
          <a:lstStyle/>
          <a:p>
            <a:pPr indent="0" marL="0">
              <a:lnSpc>
                <a:spcPts val="1900"/>
              </a:lnSpc>
              <a:buNone/>
            </a:pPr>
            <a:r>
              <a:rPr lang="en-US" sz="1300" dirty="0">
                <a:solidFill>
                  <a:srgbClr val="211C16"/>
                </a:solidFill>
                <a:latin typeface="Calibri" pitchFamily="34" charset="0"/>
                <a:ea typeface="Calibri" pitchFamily="34" charset="-122"/>
                <a:cs typeface="Calibri" pitchFamily="34" charset="-120"/>
              </a:rPr>
              <a:t>Shares are held exclusively by primary producers. There are no outside investors and no promoters extracting a margin.</a:t>
            </a:r>
            <a:endParaRPr lang="en-US" sz="1300" dirty="0"/>
          </a:p>
        </p:txBody>
      </p:sp>
      <p:sp>
        <p:nvSpPr>
          <p:cNvPr id="10" name="Shape 7"/>
          <p:cNvSpPr/>
          <p:nvPr/>
        </p:nvSpPr>
        <p:spPr>
          <a:xfrm>
            <a:off x="640080" y="3401568"/>
            <a:ext cx="475488" cy="475488"/>
          </a:xfrm>
          <a:prstGeom prst="ellipse">
            <a:avLst/>
          </a:prstGeom>
          <a:solidFill>
            <a:srgbClr val="5C9A4F"/>
          </a:solidFill>
          <a:ln/>
        </p:spPr>
      </p:sp>
      <p:sp>
        <p:nvSpPr>
          <p:cNvPr id="11" name="Text 8"/>
          <p:cNvSpPr txBox="1"/>
          <p:nvPr/>
        </p:nvSpPr>
        <p:spPr>
          <a:xfrm>
            <a:off x="640080" y="340156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9"/>
          <p:cNvSpPr txBox="1"/>
          <p:nvPr/>
        </p:nvSpPr>
        <p:spPr>
          <a:xfrm>
            <a:off x="1353312" y="3364992"/>
            <a:ext cx="3108960" cy="365760"/>
          </a:xfrm>
          <a:prstGeom prst="rect">
            <a:avLst/>
          </a:prstGeom>
          <a:noFill/>
          <a:ln/>
        </p:spPr>
        <p:txBody>
          <a:bodyPr wrap="square" lIns="0" tIns="0" rIns="0" bIns="0" rtlCol="0" anchor="t"/>
          <a:lstStyle/>
          <a:p>
            <a:pPr indent="0" marL="0">
              <a:buNone/>
            </a:pPr>
            <a:r>
              <a:rPr lang="en-US" sz="1700" b="1" dirty="0">
                <a:solidFill>
                  <a:srgbClr val="245C36"/>
                </a:solidFill>
                <a:latin typeface="Cambria" pitchFamily="34" charset="0"/>
                <a:ea typeface="Cambria" pitchFamily="34" charset="-122"/>
                <a:cs typeface="Cambria" pitchFamily="34" charset="-120"/>
              </a:rPr>
              <a:t>One member, one voice</a:t>
            </a:r>
            <a:endParaRPr lang="en-US" sz="1700" dirty="0"/>
          </a:p>
        </p:txBody>
      </p:sp>
      <p:sp>
        <p:nvSpPr>
          <p:cNvPr id="13" name="Text 10"/>
          <p:cNvSpPr txBox="1"/>
          <p:nvPr/>
        </p:nvSpPr>
        <p:spPr>
          <a:xfrm>
            <a:off x="4526280" y="3383280"/>
            <a:ext cx="6995160" cy="822960"/>
          </a:xfrm>
          <a:prstGeom prst="rect">
            <a:avLst/>
          </a:prstGeom>
          <a:noFill/>
          <a:ln/>
        </p:spPr>
        <p:txBody>
          <a:bodyPr wrap="square" lIns="0" tIns="0" rIns="0" bIns="0" rtlCol="0" anchor="t"/>
          <a:lstStyle/>
          <a:p>
            <a:pPr indent="0" marL="0">
              <a:lnSpc>
                <a:spcPts val="1900"/>
              </a:lnSpc>
              <a:buNone/>
            </a:pPr>
            <a:r>
              <a:rPr lang="en-US" sz="1300" dirty="0">
                <a:solidFill>
                  <a:srgbClr val="211C16"/>
                </a:solidFill>
                <a:latin typeface="Calibri" pitchFamily="34" charset="0"/>
                <a:ea typeface="Calibri" pitchFamily="34" charset="-122"/>
                <a:cs typeface="Calibri" pitchFamily="34" charset="-120"/>
              </a:rPr>
              <a:t>Voting rights are tied to membership, not to the size of a shareholding — a farmer with five shares carries the same weight as one with a hundred.</a:t>
            </a:r>
            <a:endParaRPr lang="en-US" sz="1300" dirty="0"/>
          </a:p>
        </p:txBody>
      </p:sp>
      <p:sp>
        <p:nvSpPr>
          <p:cNvPr id="14" name="Shape 11"/>
          <p:cNvSpPr/>
          <p:nvPr/>
        </p:nvSpPr>
        <p:spPr>
          <a:xfrm>
            <a:off x="640080" y="4407408"/>
            <a:ext cx="475488" cy="475488"/>
          </a:xfrm>
          <a:prstGeom prst="ellipse">
            <a:avLst/>
          </a:prstGeom>
          <a:solidFill>
            <a:srgbClr val="245C36"/>
          </a:solidFill>
          <a:ln/>
        </p:spPr>
      </p:sp>
      <p:sp>
        <p:nvSpPr>
          <p:cNvPr id="15" name="Text 12"/>
          <p:cNvSpPr txBox="1"/>
          <p:nvPr/>
        </p:nvSpPr>
        <p:spPr>
          <a:xfrm>
            <a:off x="640080" y="44074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6" name="Text 13"/>
          <p:cNvSpPr txBox="1"/>
          <p:nvPr/>
        </p:nvSpPr>
        <p:spPr>
          <a:xfrm>
            <a:off x="1353312" y="4370832"/>
            <a:ext cx="3108960" cy="365760"/>
          </a:xfrm>
          <a:prstGeom prst="rect">
            <a:avLst/>
          </a:prstGeom>
          <a:noFill/>
          <a:ln/>
        </p:spPr>
        <p:txBody>
          <a:bodyPr wrap="square" lIns="0" tIns="0" rIns="0" bIns="0" rtlCol="0" anchor="t"/>
          <a:lstStyle/>
          <a:p>
            <a:pPr indent="0" marL="0">
              <a:buNone/>
            </a:pPr>
            <a:r>
              <a:rPr lang="en-US" sz="1700" b="1" dirty="0">
                <a:solidFill>
                  <a:srgbClr val="245C36"/>
                </a:solidFill>
                <a:latin typeface="Cambria" pitchFamily="34" charset="0"/>
                <a:ea typeface="Cambria" pitchFamily="34" charset="-122"/>
                <a:cs typeface="Cambria" pitchFamily="34" charset="-120"/>
              </a:rPr>
              <a:t>Surplus returns to members</a:t>
            </a:r>
            <a:endParaRPr lang="en-US" sz="1700" dirty="0"/>
          </a:p>
        </p:txBody>
      </p:sp>
      <p:sp>
        <p:nvSpPr>
          <p:cNvPr id="17" name="Text 14"/>
          <p:cNvSpPr txBox="1"/>
          <p:nvPr/>
        </p:nvSpPr>
        <p:spPr>
          <a:xfrm>
            <a:off x="4526280" y="4389120"/>
            <a:ext cx="6995160" cy="822960"/>
          </a:xfrm>
          <a:prstGeom prst="rect">
            <a:avLst/>
          </a:prstGeom>
          <a:noFill/>
          <a:ln/>
        </p:spPr>
        <p:txBody>
          <a:bodyPr wrap="square" lIns="0" tIns="0" rIns="0" bIns="0" rtlCol="0" anchor="t"/>
          <a:lstStyle/>
          <a:p>
            <a:pPr indent="0" marL="0">
              <a:lnSpc>
                <a:spcPts val="1900"/>
              </a:lnSpc>
              <a:buNone/>
            </a:pPr>
            <a:r>
              <a:rPr lang="en-US" sz="1300" dirty="0">
                <a:solidFill>
                  <a:srgbClr val="211C16"/>
                </a:solidFill>
                <a:latin typeface="Calibri" pitchFamily="34" charset="0"/>
                <a:ea typeface="Calibri" pitchFamily="34" charset="-122"/>
                <a:cs typeface="Calibri" pitchFamily="34" charset="-120"/>
              </a:rPr>
              <a:t>Profit is distributed to members as patronage bonus in proportion to the produce they supplied, rather than paid out to shareholders as dividend.</a:t>
            </a:r>
            <a:endParaRPr lang="en-US" sz="1300" dirty="0"/>
          </a:p>
        </p:txBody>
      </p:sp>
      <p:sp>
        <p:nvSpPr>
          <p:cNvPr id="18" name="Shape 15"/>
          <p:cNvSpPr/>
          <p:nvPr/>
        </p:nvSpPr>
        <p:spPr>
          <a:xfrm>
            <a:off x="640080" y="5413248"/>
            <a:ext cx="475488" cy="475488"/>
          </a:xfrm>
          <a:prstGeom prst="ellipse">
            <a:avLst/>
          </a:prstGeom>
          <a:solidFill>
            <a:srgbClr val="5C9A4F"/>
          </a:solidFill>
          <a:ln/>
        </p:spPr>
      </p:sp>
      <p:sp>
        <p:nvSpPr>
          <p:cNvPr id="19" name="Text 16"/>
          <p:cNvSpPr txBox="1"/>
          <p:nvPr/>
        </p:nvSpPr>
        <p:spPr>
          <a:xfrm>
            <a:off x="640080" y="541324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0" name="Text 17"/>
          <p:cNvSpPr txBox="1"/>
          <p:nvPr/>
        </p:nvSpPr>
        <p:spPr>
          <a:xfrm>
            <a:off x="1353312" y="5376672"/>
            <a:ext cx="3108960" cy="365760"/>
          </a:xfrm>
          <a:prstGeom prst="rect">
            <a:avLst/>
          </a:prstGeom>
          <a:noFill/>
          <a:ln/>
        </p:spPr>
        <p:txBody>
          <a:bodyPr wrap="square" lIns="0" tIns="0" rIns="0" bIns="0" rtlCol="0" anchor="t"/>
          <a:lstStyle/>
          <a:p>
            <a:pPr indent="0" marL="0">
              <a:buNone/>
            </a:pPr>
            <a:r>
              <a:rPr lang="en-US" sz="1700" b="1" dirty="0">
                <a:solidFill>
                  <a:srgbClr val="245C36"/>
                </a:solidFill>
                <a:latin typeface="Cambria" pitchFamily="34" charset="0"/>
                <a:ea typeface="Cambria" pitchFamily="34" charset="-122"/>
                <a:cs typeface="Cambria" pitchFamily="34" charset="-120"/>
              </a:rPr>
              <a:t>Company-grade standing</a:t>
            </a:r>
            <a:endParaRPr lang="en-US" sz="1700" dirty="0"/>
          </a:p>
        </p:txBody>
      </p:sp>
      <p:sp>
        <p:nvSpPr>
          <p:cNvPr id="21" name="Text 18"/>
          <p:cNvSpPr txBox="1"/>
          <p:nvPr/>
        </p:nvSpPr>
        <p:spPr>
          <a:xfrm>
            <a:off x="4526280" y="5394960"/>
            <a:ext cx="6995160" cy="822960"/>
          </a:xfrm>
          <a:prstGeom prst="rect">
            <a:avLst/>
          </a:prstGeom>
          <a:noFill/>
          <a:ln/>
        </p:spPr>
        <p:txBody>
          <a:bodyPr wrap="square" lIns="0" tIns="0" rIns="0" bIns="0" rtlCol="0" anchor="t"/>
          <a:lstStyle/>
          <a:p>
            <a:pPr indent="0" marL="0">
              <a:lnSpc>
                <a:spcPts val="1900"/>
              </a:lnSpc>
              <a:buNone/>
            </a:pPr>
            <a:r>
              <a:rPr lang="en-US" sz="1300" dirty="0">
                <a:solidFill>
                  <a:srgbClr val="211C16"/>
                </a:solidFill>
                <a:latin typeface="Calibri" pitchFamily="34" charset="0"/>
                <a:ea typeface="Calibri" pitchFamily="34" charset="-122"/>
                <a:cs typeface="Calibri" pitchFamily="34" charset="-120"/>
              </a:rPr>
              <a:t>A registered CIN and GSTIN let the company hold bank accounts, sign supply contracts, access government schemes and issue tax invoices in its own name.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WHAT WE DO</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Four things the company does for its members</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Shape 2"/>
          <p:cNvSpPr/>
          <p:nvPr/>
        </p:nvSpPr>
        <p:spPr>
          <a:xfrm>
            <a:off x="640080" y="2103120"/>
            <a:ext cx="525780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6" name="Shape 3"/>
          <p:cNvSpPr/>
          <p:nvPr/>
        </p:nvSpPr>
        <p:spPr>
          <a:xfrm>
            <a:off x="896112" y="2359152"/>
            <a:ext cx="420624" cy="420624"/>
          </a:xfrm>
          <a:prstGeom prst="ellipse">
            <a:avLst/>
          </a:prstGeom>
          <a:solidFill>
            <a:srgbClr val="245C36"/>
          </a:solidFill>
          <a:ln/>
        </p:spPr>
      </p:sp>
      <p:sp>
        <p:nvSpPr>
          <p:cNvPr id="7" name="Text 4"/>
          <p:cNvSpPr txBox="1"/>
          <p:nvPr/>
        </p:nvSpPr>
        <p:spPr>
          <a:xfrm>
            <a:off x="896112" y="23591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5"/>
          <p:cNvSpPr txBox="1"/>
          <p:nvPr/>
        </p:nvSpPr>
        <p:spPr>
          <a:xfrm>
            <a:off x="1463040" y="2331720"/>
            <a:ext cx="417880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Organic produce</a:t>
            </a:r>
            <a:endParaRPr lang="en-US" sz="1600" dirty="0"/>
          </a:p>
        </p:txBody>
      </p:sp>
      <p:sp>
        <p:nvSpPr>
          <p:cNvPr id="9" name="Text 6"/>
          <p:cNvSpPr txBox="1"/>
          <p:nvPr/>
        </p:nvSpPr>
        <p:spPr>
          <a:xfrm>
            <a:off x="1463040" y="2688336"/>
            <a:ext cx="417880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Pulses, wheat, oilseeds and seasonal vegetables grown without synthetic fertiliser or chemical pesticide, on member land across nine villages.</a:t>
            </a:r>
            <a:endParaRPr lang="en-US" sz="1300" dirty="0"/>
          </a:p>
        </p:txBody>
      </p:sp>
      <p:sp>
        <p:nvSpPr>
          <p:cNvPr id="10" name="Shape 7"/>
          <p:cNvSpPr/>
          <p:nvPr/>
        </p:nvSpPr>
        <p:spPr>
          <a:xfrm>
            <a:off x="6263640" y="2103120"/>
            <a:ext cx="525780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1" name="Shape 8"/>
          <p:cNvSpPr/>
          <p:nvPr/>
        </p:nvSpPr>
        <p:spPr>
          <a:xfrm>
            <a:off x="6519672" y="2359152"/>
            <a:ext cx="420624" cy="420624"/>
          </a:xfrm>
          <a:prstGeom prst="ellipse">
            <a:avLst/>
          </a:prstGeom>
          <a:solidFill>
            <a:srgbClr val="5C9A4F"/>
          </a:solidFill>
          <a:ln/>
        </p:spPr>
      </p:sp>
      <p:sp>
        <p:nvSpPr>
          <p:cNvPr id="12" name="Text 9"/>
          <p:cNvSpPr txBox="1"/>
          <p:nvPr/>
        </p:nvSpPr>
        <p:spPr>
          <a:xfrm>
            <a:off x="6519672" y="23591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7086600" y="2331720"/>
            <a:ext cx="417880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Fair market access</a:t>
            </a:r>
            <a:endParaRPr lang="en-US" sz="1600" dirty="0"/>
          </a:p>
        </p:txBody>
      </p:sp>
      <p:sp>
        <p:nvSpPr>
          <p:cNvPr id="14" name="Text 11"/>
          <p:cNvSpPr txBox="1"/>
          <p:nvPr/>
        </p:nvSpPr>
        <p:spPr>
          <a:xfrm>
            <a:off x="7086600" y="2688336"/>
            <a:ext cx="417880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Produce is pooled and sold as one lot, so the company negotiates volume terms instead of each farmer accepting whatever the local buyer offers.</a:t>
            </a:r>
            <a:endParaRPr lang="en-US" sz="1300" dirty="0"/>
          </a:p>
        </p:txBody>
      </p:sp>
      <p:sp>
        <p:nvSpPr>
          <p:cNvPr id="15" name="Shape 12"/>
          <p:cNvSpPr/>
          <p:nvPr/>
        </p:nvSpPr>
        <p:spPr>
          <a:xfrm>
            <a:off x="640080" y="4160520"/>
            <a:ext cx="525780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6" name="Shape 13"/>
          <p:cNvSpPr/>
          <p:nvPr/>
        </p:nvSpPr>
        <p:spPr>
          <a:xfrm>
            <a:off x="896112" y="4416552"/>
            <a:ext cx="420624" cy="420624"/>
          </a:xfrm>
          <a:prstGeom prst="ellipse">
            <a:avLst/>
          </a:prstGeom>
          <a:solidFill>
            <a:srgbClr val="6B4A2B"/>
          </a:solidFill>
          <a:ln/>
        </p:spPr>
      </p:sp>
      <p:sp>
        <p:nvSpPr>
          <p:cNvPr id="17" name="Text 14"/>
          <p:cNvSpPr txBox="1"/>
          <p:nvPr/>
        </p:nvSpPr>
        <p:spPr>
          <a:xfrm>
            <a:off x="896112" y="44165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5"/>
          <p:cNvSpPr txBox="1"/>
          <p:nvPr/>
        </p:nvSpPr>
        <p:spPr>
          <a:xfrm>
            <a:off x="1463040" y="4389120"/>
            <a:ext cx="417880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Inputs &amp; training</a:t>
            </a:r>
            <a:endParaRPr lang="en-US" sz="1600" dirty="0"/>
          </a:p>
        </p:txBody>
      </p:sp>
      <p:sp>
        <p:nvSpPr>
          <p:cNvPr id="19" name="Text 16"/>
          <p:cNvSpPr txBox="1"/>
          <p:nvPr/>
        </p:nvSpPr>
        <p:spPr>
          <a:xfrm>
            <a:off x="1463040" y="4745736"/>
            <a:ext cx="417880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Seed, bio-inputs and equipment bought in bulk at lower cost, with shared guidance on organic practice, soil health and crop planning.</a:t>
            </a:r>
            <a:endParaRPr lang="en-US" sz="1300" dirty="0"/>
          </a:p>
        </p:txBody>
      </p:sp>
      <p:sp>
        <p:nvSpPr>
          <p:cNvPr id="20" name="Shape 17"/>
          <p:cNvSpPr/>
          <p:nvPr/>
        </p:nvSpPr>
        <p:spPr>
          <a:xfrm>
            <a:off x="6263640" y="4160520"/>
            <a:ext cx="525780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1" name="Shape 18"/>
          <p:cNvSpPr/>
          <p:nvPr/>
        </p:nvSpPr>
        <p:spPr>
          <a:xfrm>
            <a:off x="6519672" y="4416552"/>
            <a:ext cx="420624" cy="420624"/>
          </a:xfrm>
          <a:prstGeom prst="ellipse">
            <a:avLst/>
          </a:prstGeom>
          <a:solidFill>
            <a:srgbClr val="E0A12E"/>
          </a:solidFill>
          <a:ln/>
        </p:spPr>
      </p:sp>
      <p:sp>
        <p:nvSpPr>
          <p:cNvPr id="22" name="Text 19"/>
          <p:cNvSpPr txBox="1"/>
          <p:nvPr/>
        </p:nvSpPr>
        <p:spPr>
          <a:xfrm>
            <a:off x="6519672" y="4416552"/>
            <a:ext cx="420624" cy="420624"/>
          </a:xfrm>
          <a:prstGeom prst="rect">
            <a:avLst/>
          </a:prstGeom>
          <a:noFill/>
          <a:ln/>
        </p:spPr>
        <p:txBody>
          <a:bodyPr wrap="square" lIns="0" tIns="0" rIns="0" bIns="0" rtlCol="0" anchor="ctr"/>
          <a:lstStyle/>
          <a:p>
            <a:pPr algn="ctr" indent="0" marL="0">
              <a:buNone/>
            </a:pPr>
            <a:r>
              <a:rPr lang="en-US" sz="1500" b="1" dirty="0">
                <a:solidFill>
                  <a:srgbClr val="211C16"/>
                </a:solidFill>
                <a:latin typeface="Calibri" pitchFamily="34" charset="0"/>
                <a:ea typeface="Calibri" pitchFamily="34" charset="-122"/>
                <a:cs typeface="Calibri" pitchFamily="34" charset="-120"/>
              </a:rPr>
              <a:t>✓</a:t>
            </a:r>
            <a:endParaRPr lang="en-US" sz="1500" dirty="0"/>
          </a:p>
        </p:txBody>
      </p:sp>
      <p:sp>
        <p:nvSpPr>
          <p:cNvPr id="23" name="Text 20"/>
          <p:cNvSpPr txBox="1"/>
          <p:nvPr/>
        </p:nvSpPr>
        <p:spPr>
          <a:xfrm>
            <a:off x="7086600" y="4389120"/>
            <a:ext cx="417880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Processing &amp; packaging</a:t>
            </a:r>
            <a:endParaRPr lang="en-US" sz="1600" dirty="0"/>
          </a:p>
        </p:txBody>
      </p:sp>
      <p:sp>
        <p:nvSpPr>
          <p:cNvPr id="24" name="Text 21"/>
          <p:cNvSpPr txBox="1"/>
          <p:nvPr/>
        </p:nvSpPr>
        <p:spPr>
          <a:xfrm>
            <a:off x="7086600" y="4745736"/>
            <a:ext cx="417880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Cleaning, grading and packing so members sell a finished, graded product rather than raw bulk — capturing value that used to sit with the trader.</a:t>
            </a:r>
            <a:endParaRPr lang="en-US" sz="1300" dirty="0"/>
          </a:p>
        </p:txBody>
      </p:sp>
      <p:sp>
        <p:nvSpPr>
          <p:cNvPr id="25" name="Text 22"/>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6A63"/>
                </a:solidFill>
                <a:latin typeface="Calibri" pitchFamily="34" charset="0"/>
                <a:ea typeface="Calibri" pitchFamily="34" charset="-122"/>
                <a:cs typeface="Calibri" pitchFamily="34" charset="-120"/>
              </a:rPr>
              <a:t>Organic certification status is being formalised; produce is grown to organic practice today.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PRODUCE</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What we grow</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81328"/>
            <a:ext cx="9509760" cy="365760"/>
          </a:xfrm>
          <a:prstGeom prst="rect">
            <a:avLst/>
          </a:prstGeom>
          <a:noFill/>
          <a:ln/>
        </p:spPr>
        <p:txBody>
          <a:bodyPr wrap="square" lIns="0" tIns="0" rIns="0" bIns="0" rtlCol="0" anchor="t"/>
          <a:lstStyle/>
          <a:p>
            <a:pPr indent="0" marL="0">
              <a:buNone/>
            </a:pPr>
            <a:r>
              <a:rPr lang="en-US" sz="1450" dirty="0">
                <a:solidFill>
                  <a:srgbClr val="211C16"/>
                </a:solidFill>
                <a:latin typeface="Calibri" pitchFamily="34" charset="0"/>
                <a:ea typeface="Calibri" pitchFamily="34" charset="-122"/>
                <a:cs typeface="Calibri" pitchFamily="34" charset="-120"/>
              </a:rPr>
              <a:t>Rain-fed Bundelkhand cropping — pulses and oilseeds through the rabi season, with vegetables where irrigation allows.</a:t>
            </a:r>
            <a:endParaRPr lang="en-US" sz="1450" dirty="0"/>
          </a:p>
        </p:txBody>
      </p:sp>
      <p:sp>
        <p:nvSpPr>
          <p:cNvPr id="6" name="Shape 3"/>
          <p:cNvSpPr/>
          <p:nvPr/>
        </p:nvSpPr>
        <p:spPr>
          <a:xfrm>
            <a:off x="640080" y="2194560"/>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7" name="Text 4"/>
          <p:cNvSpPr txBox="1"/>
          <p:nvPr/>
        </p:nvSpPr>
        <p:spPr>
          <a:xfrm>
            <a:off x="896112" y="2423160"/>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Arhar / Tur dal</a:t>
            </a:r>
            <a:endParaRPr lang="en-US" sz="1600" dirty="0"/>
          </a:p>
        </p:txBody>
      </p:sp>
      <p:sp>
        <p:nvSpPr>
          <p:cNvPr id="8" name="Text 5"/>
          <p:cNvSpPr txBox="1"/>
          <p:nvPr/>
        </p:nvSpPr>
        <p:spPr>
          <a:xfrm>
            <a:off x="896112" y="2779776"/>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The mainstay pulse of the region — long-duration pigeon pea, sold whole or split.</a:t>
            </a:r>
            <a:endParaRPr lang="en-US" sz="1300" dirty="0"/>
          </a:p>
        </p:txBody>
      </p:sp>
      <p:sp>
        <p:nvSpPr>
          <p:cNvPr id="9" name="Shape 6"/>
          <p:cNvSpPr/>
          <p:nvPr/>
        </p:nvSpPr>
        <p:spPr>
          <a:xfrm>
            <a:off x="4358640" y="2194560"/>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0" name="Text 7"/>
          <p:cNvSpPr txBox="1"/>
          <p:nvPr/>
        </p:nvSpPr>
        <p:spPr>
          <a:xfrm>
            <a:off x="4614672" y="2423160"/>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Chana / Gram</a:t>
            </a:r>
            <a:endParaRPr lang="en-US" sz="1600" dirty="0"/>
          </a:p>
        </p:txBody>
      </p:sp>
      <p:sp>
        <p:nvSpPr>
          <p:cNvPr id="11" name="Text 8"/>
          <p:cNvSpPr txBox="1"/>
          <p:nvPr/>
        </p:nvSpPr>
        <p:spPr>
          <a:xfrm>
            <a:off x="4614672" y="2779776"/>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Rabi-season chickpea, well suited to the black soils and limited irrigation here.</a:t>
            </a:r>
            <a:endParaRPr lang="en-US" sz="1300" dirty="0"/>
          </a:p>
        </p:txBody>
      </p:sp>
      <p:sp>
        <p:nvSpPr>
          <p:cNvPr id="12" name="Shape 9"/>
          <p:cNvSpPr/>
          <p:nvPr/>
        </p:nvSpPr>
        <p:spPr>
          <a:xfrm>
            <a:off x="8077200" y="2194560"/>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3" name="Text 10"/>
          <p:cNvSpPr txBox="1"/>
          <p:nvPr/>
        </p:nvSpPr>
        <p:spPr>
          <a:xfrm>
            <a:off x="8333232" y="2423160"/>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Urad dal</a:t>
            </a:r>
            <a:endParaRPr lang="en-US" sz="1600" dirty="0"/>
          </a:p>
        </p:txBody>
      </p:sp>
      <p:sp>
        <p:nvSpPr>
          <p:cNvPr id="14" name="Text 11"/>
          <p:cNvSpPr txBox="1"/>
          <p:nvPr/>
        </p:nvSpPr>
        <p:spPr>
          <a:xfrm>
            <a:off x="8333232" y="2779776"/>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Black gram, grown both as a kharif crop and in rotation to fix nitrogen in the soil.</a:t>
            </a:r>
            <a:endParaRPr lang="en-US" sz="1300" dirty="0"/>
          </a:p>
        </p:txBody>
      </p:sp>
      <p:sp>
        <p:nvSpPr>
          <p:cNvPr id="15" name="Shape 12"/>
          <p:cNvSpPr/>
          <p:nvPr/>
        </p:nvSpPr>
        <p:spPr>
          <a:xfrm>
            <a:off x="640080" y="4133088"/>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6" name="Text 13"/>
          <p:cNvSpPr txBox="1"/>
          <p:nvPr/>
        </p:nvSpPr>
        <p:spPr>
          <a:xfrm>
            <a:off x="896112" y="4361688"/>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Wheat</a:t>
            </a:r>
            <a:endParaRPr lang="en-US" sz="1600" dirty="0"/>
          </a:p>
        </p:txBody>
      </p:sp>
      <p:sp>
        <p:nvSpPr>
          <p:cNvPr id="17" name="Text 14"/>
          <p:cNvSpPr txBox="1"/>
          <p:nvPr/>
        </p:nvSpPr>
        <p:spPr>
          <a:xfrm>
            <a:off x="896112" y="4718304"/>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The main rabi cereal, grown for household consumption and for sale as surplus.</a:t>
            </a:r>
            <a:endParaRPr lang="en-US" sz="1300" dirty="0"/>
          </a:p>
        </p:txBody>
      </p:sp>
      <p:sp>
        <p:nvSpPr>
          <p:cNvPr id="18" name="Shape 15"/>
          <p:cNvSpPr/>
          <p:nvPr/>
        </p:nvSpPr>
        <p:spPr>
          <a:xfrm>
            <a:off x="4358640" y="4133088"/>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9" name="Text 16"/>
          <p:cNvSpPr txBox="1"/>
          <p:nvPr/>
        </p:nvSpPr>
        <p:spPr>
          <a:xfrm>
            <a:off x="4614672" y="4361688"/>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Mustard &amp; oilseeds</a:t>
            </a:r>
            <a:endParaRPr lang="en-US" sz="1600" dirty="0"/>
          </a:p>
        </p:txBody>
      </p:sp>
      <p:sp>
        <p:nvSpPr>
          <p:cNvPr id="20" name="Text 17"/>
          <p:cNvSpPr txBox="1"/>
          <p:nvPr/>
        </p:nvSpPr>
        <p:spPr>
          <a:xfrm>
            <a:off x="4614672" y="4718304"/>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Mustard for oil and cake, an important cash crop alongside the pulses.</a:t>
            </a:r>
            <a:endParaRPr lang="en-US" sz="1300" dirty="0"/>
          </a:p>
        </p:txBody>
      </p:sp>
      <p:sp>
        <p:nvSpPr>
          <p:cNvPr id="21" name="Shape 18"/>
          <p:cNvSpPr/>
          <p:nvPr/>
        </p:nvSpPr>
        <p:spPr>
          <a:xfrm>
            <a:off x="8077200" y="4133088"/>
            <a:ext cx="3444240" cy="1572768"/>
          </a:xfrm>
          <a:prstGeom prst="roundRect">
            <a:avLst>
              <a:gd name="adj" fmla="val 581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2" name="Text 19"/>
          <p:cNvSpPr txBox="1"/>
          <p:nvPr/>
        </p:nvSpPr>
        <p:spPr>
          <a:xfrm>
            <a:off x="8333232" y="4361688"/>
            <a:ext cx="2932176"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Seasonal vegetables</a:t>
            </a:r>
            <a:endParaRPr lang="en-US" sz="1600" dirty="0"/>
          </a:p>
        </p:txBody>
      </p:sp>
      <p:sp>
        <p:nvSpPr>
          <p:cNvPr id="23" name="Text 20"/>
          <p:cNvSpPr txBox="1"/>
          <p:nvPr/>
        </p:nvSpPr>
        <p:spPr>
          <a:xfrm>
            <a:off x="8333232" y="4718304"/>
            <a:ext cx="2932176" cy="786384"/>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Grown on irrigated plots for nearby markets, giving members income between harvests.</a:t>
            </a:r>
            <a:endParaRPr lang="en-US" sz="1300" dirty="0"/>
          </a:p>
        </p:txBody>
      </p:sp>
      <p:sp>
        <p:nvSpPr>
          <p:cNvPr id="24" name="Text 21"/>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6A63"/>
                </a:solidFill>
                <a:latin typeface="Calibri" pitchFamily="34" charset="0"/>
                <a:ea typeface="Calibri" pitchFamily="34" charset="-122"/>
                <a:cs typeface="Calibri" pitchFamily="34" charset="-120"/>
              </a:rPr>
              <a:t>Crop mix varies year to year with rainfall and market conditions.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5C36"/>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E0A12E"/>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our farms to you</a:t>
            </a:r>
            <a:endParaRPr lang="en-US" sz="3600" dirty="0"/>
          </a:p>
        </p:txBody>
      </p:sp>
      <p:sp>
        <p:nvSpPr>
          <p:cNvPr id="4" name="Text 2"/>
          <p:cNvSpPr txBox="1"/>
          <p:nvPr/>
        </p:nvSpPr>
        <p:spPr>
          <a:xfrm>
            <a:off x="640080" y="1517904"/>
            <a:ext cx="9509760" cy="548640"/>
          </a:xfrm>
          <a:prstGeom prst="rect">
            <a:avLst/>
          </a:prstGeom>
          <a:noFill/>
          <a:ln/>
        </p:spPr>
        <p:txBody>
          <a:bodyPr wrap="square" lIns="0" tIns="0" rIns="0" bIns="0" rtlCol="0" anchor="t"/>
          <a:lstStyle/>
          <a:p>
            <a:pPr indent="0" marL="0">
              <a:lnSpc>
                <a:spcPts val="2300"/>
              </a:lnSpc>
              <a:buNone/>
            </a:pPr>
            <a:r>
              <a:rPr lang="en-US" sz="1500" dirty="0">
                <a:solidFill>
                  <a:srgbClr val="D6E4D3"/>
                </a:solidFill>
                <a:latin typeface="Calibri" pitchFamily="34" charset="0"/>
                <a:ea typeface="Calibri" pitchFamily="34" charset="-122"/>
                <a:cs typeface="Calibri" pitchFamily="34" charset="-120"/>
              </a:rPr>
              <a:t>Four steps between a member’s field and a buyer’s warehouse — each one handled by the company rather than by an intermediary.</a:t>
            </a:r>
            <a:endParaRPr lang="en-US" sz="1500" dirty="0"/>
          </a:p>
        </p:txBody>
      </p:sp>
      <p:sp>
        <p:nvSpPr>
          <p:cNvPr id="5" name="Shape 3"/>
          <p:cNvSpPr/>
          <p:nvPr/>
        </p:nvSpPr>
        <p:spPr>
          <a:xfrm>
            <a:off x="640080" y="2624328"/>
            <a:ext cx="2137410" cy="2286000"/>
          </a:xfrm>
          <a:prstGeom prst="roundRect">
            <a:avLst>
              <a:gd name="adj" fmla="val 4278"/>
            </a:avLst>
          </a:prstGeom>
          <a:solidFill>
            <a:srgbClr val="1B4A2B"/>
          </a:solidFill>
          <a:ln w="12700">
            <a:solidFill>
              <a:srgbClr val="2F6E42"/>
            </a:solidFill>
            <a:prstDash val="solid"/>
          </a:ln>
        </p:spPr>
      </p:sp>
      <p:sp>
        <p:nvSpPr>
          <p:cNvPr id="6" name="Shape 4"/>
          <p:cNvSpPr/>
          <p:nvPr/>
        </p:nvSpPr>
        <p:spPr>
          <a:xfrm>
            <a:off x="896112" y="2880360"/>
            <a:ext cx="512064" cy="512064"/>
          </a:xfrm>
          <a:prstGeom prst="ellipse">
            <a:avLst/>
          </a:prstGeom>
          <a:solidFill>
            <a:srgbClr val="E0A12E"/>
          </a:solidFill>
          <a:ln/>
        </p:spPr>
      </p:sp>
      <p:sp>
        <p:nvSpPr>
          <p:cNvPr id="7" name="Text 5"/>
          <p:cNvSpPr txBox="1"/>
          <p:nvPr/>
        </p:nvSpPr>
        <p:spPr>
          <a:xfrm>
            <a:off x="896112" y="2880360"/>
            <a:ext cx="512064" cy="512064"/>
          </a:xfrm>
          <a:prstGeom prst="rect">
            <a:avLst/>
          </a:prstGeom>
          <a:noFill/>
          <a:ln/>
        </p:spPr>
        <p:txBody>
          <a:bodyPr wrap="square" lIns="0" tIns="0" rIns="0" bIns="0" rtlCol="0" anchor="ctr"/>
          <a:lstStyle/>
          <a:p>
            <a:pPr algn="ctr" indent="0" marL="0">
              <a:buNone/>
            </a:pPr>
            <a:r>
              <a:rPr lang="en-US" sz="1500" b="1" dirty="0">
                <a:solidFill>
                  <a:srgbClr val="211C16"/>
                </a:solidFill>
                <a:latin typeface="Calibri" pitchFamily="34" charset="0"/>
                <a:ea typeface="Calibri" pitchFamily="34" charset="-122"/>
                <a:cs typeface="Calibri" pitchFamily="34" charset="-120"/>
              </a:rPr>
              <a:t>01</a:t>
            </a:r>
            <a:endParaRPr lang="en-US" sz="1500" dirty="0"/>
          </a:p>
        </p:txBody>
      </p:sp>
      <p:sp>
        <p:nvSpPr>
          <p:cNvPr id="8" name="Text 6"/>
          <p:cNvSpPr txBox="1"/>
          <p:nvPr/>
        </p:nvSpPr>
        <p:spPr>
          <a:xfrm>
            <a:off x="896112" y="3483864"/>
            <a:ext cx="1625346" cy="36576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Grow</a:t>
            </a:r>
            <a:endParaRPr lang="en-US" sz="2100" dirty="0"/>
          </a:p>
        </p:txBody>
      </p:sp>
      <p:sp>
        <p:nvSpPr>
          <p:cNvPr id="9" name="Text 7"/>
          <p:cNvSpPr txBox="1"/>
          <p:nvPr/>
        </p:nvSpPr>
        <p:spPr>
          <a:xfrm>
            <a:off x="896112" y="3886200"/>
            <a:ext cx="1625346" cy="868680"/>
          </a:xfrm>
          <a:prstGeom prst="rect">
            <a:avLst/>
          </a:prstGeom>
          <a:noFill/>
          <a:ln/>
        </p:spPr>
        <p:txBody>
          <a:bodyPr wrap="square" lIns="0" tIns="0" rIns="0" bIns="0" rtlCol="0" anchor="t"/>
          <a:lstStyle/>
          <a:p>
            <a:pPr indent="0" marL="0">
              <a:lnSpc>
                <a:spcPts val="1800"/>
              </a:lnSpc>
              <a:buNone/>
            </a:pPr>
            <a:r>
              <a:rPr lang="en-US" sz="1250" dirty="0">
                <a:solidFill>
                  <a:srgbClr val="D6E4D3"/>
                </a:solidFill>
                <a:latin typeface="Calibri" pitchFamily="34" charset="0"/>
                <a:ea typeface="Calibri" pitchFamily="34" charset="-122"/>
                <a:cs typeface="Calibri" pitchFamily="34" charset="-120"/>
              </a:rPr>
              <a:t>Members farm their own land to organic practice, following a shared crop plan and input schedule.</a:t>
            </a:r>
            <a:endParaRPr lang="en-US" sz="1250" dirty="0"/>
          </a:p>
        </p:txBody>
      </p:sp>
      <p:sp>
        <p:nvSpPr>
          <p:cNvPr id="10" name="Text 8"/>
          <p:cNvSpPr txBox="1"/>
          <p:nvPr/>
        </p:nvSpPr>
        <p:spPr>
          <a:xfrm>
            <a:off x="2777490" y="3520440"/>
            <a:ext cx="777240" cy="365760"/>
          </a:xfrm>
          <a:prstGeom prst="rect">
            <a:avLst/>
          </a:prstGeom>
          <a:noFill/>
          <a:ln/>
        </p:spPr>
        <p:txBody>
          <a:bodyPr wrap="square" lIns="0" tIns="0" rIns="0" bIns="0" rtlCol="0" anchor="ctr"/>
          <a:lstStyle/>
          <a:p>
            <a:pPr algn="ctr" indent="0" marL="0">
              <a:buNone/>
            </a:pPr>
            <a:r>
              <a:rPr lang="en-US" sz="2400" b="1" dirty="0">
                <a:solidFill>
                  <a:srgbClr val="E0A12E"/>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554730" y="2624328"/>
            <a:ext cx="2137410" cy="2286000"/>
          </a:xfrm>
          <a:prstGeom prst="roundRect">
            <a:avLst>
              <a:gd name="adj" fmla="val 4278"/>
            </a:avLst>
          </a:prstGeom>
          <a:solidFill>
            <a:srgbClr val="1B4A2B"/>
          </a:solidFill>
          <a:ln w="12700">
            <a:solidFill>
              <a:srgbClr val="2F6E42"/>
            </a:solidFill>
            <a:prstDash val="solid"/>
          </a:ln>
        </p:spPr>
      </p:sp>
      <p:sp>
        <p:nvSpPr>
          <p:cNvPr id="12" name="Shape 10"/>
          <p:cNvSpPr/>
          <p:nvPr/>
        </p:nvSpPr>
        <p:spPr>
          <a:xfrm>
            <a:off x="3810762" y="2880360"/>
            <a:ext cx="512064" cy="512064"/>
          </a:xfrm>
          <a:prstGeom prst="ellipse">
            <a:avLst/>
          </a:prstGeom>
          <a:solidFill>
            <a:srgbClr val="E0A12E"/>
          </a:solidFill>
          <a:ln/>
        </p:spPr>
      </p:sp>
      <p:sp>
        <p:nvSpPr>
          <p:cNvPr id="13" name="Text 11"/>
          <p:cNvSpPr txBox="1"/>
          <p:nvPr/>
        </p:nvSpPr>
        <p:spPr>
          <a:xfrm>
            <a:off x="3810762" y="2880360"/>
            <a:ext cx="512064" cy="512064"/>
          </a:xfrm>
          <a:prstGeom prst="rect">
            <a:avLst/>
          </a:prstGeom>
          <a:noFill/>
          <a:ln/>
        </p:spPr>
        <p:txBody>
          <a:bodyPr wrap="square" lIns="0" tIns="0" rIns="0" bIns="0" rtlCol="0" anchor="ctr"/>
          <a:lstStyle/>
          <a:p>
            <a:pPr algn="ctr" indent="0" marL="0">
              <a:buNone/>
            </a:pPr>
            <a:r>
              <a:rPr lang="en-US" sz="1500" b="1" dirty="0">
                <a:solidFill>
                  <a:srgbClr val="211C16"/>
                </a:solidFill>
                <a:latin typeface="Calibri" pitchFamily="34" charset="0"/>
                <a:ea typeface="Calibri" pitchFamily="34" charset="-122"/>
                <a:cs typeface="Calibri" pitchFamily="34" charset="-120"/>
              </a:rPr>
              <a:t>02</a:t>
            </a:r>
            <a:endParaRPr lang="en-US" sz="1500" dirty="0"/>
          </a:p>
        </p:txBody>
      </p:sp>
      <p:sp>
        <p:nvSpPr>
          <p:cNvPr id="14" name="Text 12"/>
          <p:cNvSpPr txBox="1"/>
          <p:nvPr/>
        </p:nvSpPr>
        <p:spPr>
          <a:xfrm>
            <a:off x="3810762" y="3483864"/>
            <a:ext cx="1625346" cy="36576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Pool</a:t>
            </a:r>
            <a:endParaRPr lang="en-US" sz="2100" dirty="0"/>
          </a:p>
        </p:txBody>
      </p:sp>
      <p:sp>
        <p:nvSpPr>
          <p:cNvPr id="15" name="Text 13"/>
          <p:cNvSpPr txBox="1"/>
          <p:nvPr/>
        </p:nvSpPr>
        <p:spPr>
          <a:xfrm>
            <a:off x="3810762" y="3886200"/>
            <a:ext cx="1625346" cy="868680"/>
          </a:xfrm>
          <a:prstGeom prst="rect">
            <a:avLst/>
          </a:prstGeom>
          <a:noFill/>
          <a:ln/>
        </p:spPr>
        <p:txBody>
          <a:bodyPr wrap="square" lIns="0" tIns="0" rIns="0" bIns="0" rtlCol="0" anchor="t"/>
          <a:lstStyle/>
          <a:p>
            <a:pPr indent="0" marL="0">
              <a:lnSpc>
                <a:spcPts val="1800"/>
              </a:lnSpc>
              <a:buNone/>
            </a:pPr>
            <a:r>
              <a:rPr lang="en-US" sz="1250" dirty="0">
                <a:solidFill>
                  <a:srgbClr val="D6E4D3"/>
                </a:solidFill>
                <a:latin typeface="Calibri" pitchFamily="34" charset="0"/>
                <a:ea typeface="Calibri" pitchFamily="34" charset="-122"/>
                <a:cs typeface="Calibri" pitchFamily="34" charset="-120"/>
              </a:rPr>
              <a:t>Harvest is collected from all nine villages and aggregated into single, saleable lots.</a:t>
            </a:r>
            <a:endParaRPr lang="en-US" sz="1250" dirty="0"/>
          </a:p>
        </p:txBody>
      </p:sp>
      <p:sp>
        <p:nvSpPr>
          <p:cNvPr id="16" name="Text 14"/>
          <p:cNvSpPr txBox="1"/>
          <p:nvPr/>
        </p:nvSpPr>
        <p:spPr>
          <a:xfrm>
            <a:off x="5692140" y="3520440"/>
            <a:ext cx="777240" cy="365760"/>
          </a:xfrm>
          <a:prstGeom prst="rect">
            <a:avLst/>
          </a:prstGeom>
          <a:noFill/>
          <a:ln/>
        </p:spPr>
        <p:txBody>
          <a:bodyPr wrap="square" lIns="0" tIns="0" rIns="0" bIns="0" rtlCol="0" anchor="ctr"/>
          <a:lstStyle/>
          <a:p>
            <a:pPr algn="ctr" indent="0" marL="0">
              <a:buNone/>
            </a:pPr>
            <a:r>
              <a:rPr lang="en-US" sz="2400" b="1" dirty="0">
                <a:solidFill>
                  <a:srgbClr val="E0A12E"/>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6469380" y="2624328"/>
            <a:ext cx="2137410" cy="2286000"/>
          </a:xfrm>
          <a:prstGeom prst="roundRect">
            <a:avLst>
              <a:gd name="adj" fmla="val 4278"/>
            </a:avLst>
          </a:prstGeom>
          <a:solidFill>
            <a:srgbClr val="1B4A2B"/>
          </a:solidFill>
          <a:ln w="12700">
            <a:solidFill>
              <a:srgbClr val="2F6E42"/>
            </a:solidFill>
            <a:prstDash val="solid"/>
          </a:ln>
        </p:spPr>
      </p:sp>
      <p:sp>
        <p:nvSpPr>
          <p:cNvPr id="18" name="Shape 16"/>
          <p:cNvSpPr/>
          <p:nvPr/>
        </p:nvSpPr>
        <p:spPr>
          <a:xfrm>
            <a:off x="6725412" y="2880360"/>
            <a:ext cx="512064" cy="512064"/>
          </a:xfrm>
          <a:prstGeom prst="ellipse">
            <a:avLst/>
          </a:prstGeom>
          <a:solidFill>
            <a:srgbClr val="E0A12E"/>
          </a:solidFill>
          <a:ln/>
        </p:spPr>
      </p:sp>
      <p:sp>
        <p:nvSpPr>
          <p:cNvPr id="19" name="Text 17"/>
          <p:cNvSpPr txBox="1"/>
          <p:nvPr/>
        </p:nvSpPr>
        <p:spPr>
          <a:xfrm>
            <a:off x="6725412" y="2880360"/>
            <a:ext cx="512064" cy="512064"/>
          </a:xfrm>
          <a:prstGeom prst="rect">
            <a:avLst/>
          </a:prstGeom>
          <a:noFill/>
          <a:ln/>
        </p:spPr>
        <p:txBody>
          <a:bodyPr wrap="square" lIns="0" tIns="0" rIns="0" bIns="0" rtlCol="0" anchor="ctr"/>
          <a:lstStyle/>
          <a:p>
            <a:pPr algn="ctr" indent="0" marL="0">
              <a:buNone/>
            </a:pPr>
            <a:r>
              <a:rPr lang="en-US" sz="1500" b="1" dirty="0">
                <a:solidFill>
                  <a:srgbClr val="211C16"/>
                </a:solidFill>
                <a:latin typeface="Calibri" pitchFamily="34" charset="0"/>
                <a:ea typeface="Calibri" pitchFamily="34" charset="-122"/>
                <a:cs typeface="Calibri" pitchFamily="34" charset="-120"/>
              </a:rPr>
              <a:t>03</a:t>
            </a:r>
            <a:endParaRPr lang="en-US" sz="1500" dirty="0"/>
          </a:p>
        </p:txBody>
      </p:sp>
      <p:sp>
        <p:nvSpPr>
          <p:cNvPr id="20" name="Text 18"/>
          <p:cNvSpPr txBox="1"/>
          <p:nvPr/>
        </p:nvSpPr>
        <p:spPr>
          <a:xfrm>
            <a:off x="6725412" y="3483864"/>
            <a:ext cx="1625346" cy="36576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Grade</a:t>
            </a:r>
            <a:endParaRPr lang="en-US" sz="2100" dirty="0"/>
          </a:p>
        </p:txBody>
      </p:sp>
      <p:sp>
        <p:nvSpPr>
          <p:cNvPr id="21" name="Text 19"/>
          <p:cNvSpPr txBox="1"/>
          <p:nvPr/>
        </p:nvSpPr>
        <p:spPr>
          <a:xfrm>
            <a:off x="6725412" y="3886200"/>
            <a:ext cx="1625346" cy="868680"/>
          </a:xfrm>
          <a:prstGeom prst="rect">
            <a:avLst/>
          </a:prstGeom>
          <a:noFill/>
          <a:ln/>
        </p:spPr>
        <p:txBody>
          <a:bodyPr wrap="square" lIns="0" tIns="0" rIns="0" bIns="0" rtlCol="0" anchor="t"/>
          <a:lstStyle/>
          <a:p>
            <a:pPr indent="0" marL="0">
              <a:lnSpc>
                <a:spcPts val="1800"/>
              </a:lnSpc>
              <a:buNone/>
            </a:pPr>
            <a:r>
              <a:rPr lang="en-US" sz="1250" dirty="0">
                <a:solidFill>
                  <a:srgbClr val="D6E4D3"/>
                </a:solidFill>
                <a:latin typeface="Calibri" pitchFamily="34" charset="0"/>
                <a:ea typeface="Calibri" pitchFamily="34" charset="-122"/>
                <a:cs typeface="Calibri" pitchFamily="34" charset="-120"/>
              </a:rPr>
              <a:t>Produce is cleaned, sorted and graded so buyers get a consistent, specified quality.</a:t>
            </a:r>
            <a:endParaRPr lang="en-US" sz="1250" dirty="0"/>
          </a:p>
        </p:txBody>
      </p:sp>
      <p:sp>
        <p:nvSpPr>
          <p:cNvPr id="22" name="Text 20"/>
          <p:cNvSpPr txBox="1"/>
          <p:nvPr/>
        </p:nvSpPr>
        <p:spPr>
          <a:xfrm>
            <a:off x="8606790" y="3520440"/>
            <a:ext cx="777240" cy="365760"/>
          </a:xfrm>
          <a:prstGeom prst="rect">
            <a:avLst/>
          </a:prstGeom>
          <a:noFill/>
          <a:ln/>
        </p:spPr>
        <p:txBody>
          <a:bodyPr wrap="square" lIns="0" tIns="0" rIns="0" bIns="0" rtlCol="0" anchor="ctr"/>
          <a:lstStyle/>
          <a:p>
            <a:pPr algn="ctr" indent="0" marL="0">
              <a:buNone/>
            </a:pPr>
            <a:r>
              <a:rPr lang="en-US" sz="2400" b="1" dirty="0">
                <a:solidFill>
                  <a:srgbClr val="E0A12E"/>
                </a:solidFill>
                <a:latin typeface="Calibri" pitchFamily="34" charset="0"/>
                <a:ea typeface="Calibri" pitchFamily="34" charset="-122"/>
                <a:cs typeface="Calibri" pitchFamily="34" charset="-120"/>
              </a:rPr>
              <a:t>→</a:t>
            </a:r>
            <a:endParaRPr lang="en-US" sz="2400" dirty="0"/>
          </a:p>
        </p:txBody>
      </p:sp>
      <p:sp>
        <p:nvSpPr>
          <p:cNvPr id="23" name="Shape 21"/>
          <p:cNvSpPr/>
          <p:nvPr/>
        </p:nvSpPr>
        <p:spPr>
          <a:xfrm>
            <a:off x="9384030" y="2624328"/>
            <a:ext cx="2137410" cy="2286000"/>
          </a:xfrm>
          <a:prstGeom prst="roundRect">
            <a:avLst>
              <a:gd name="adj" fmla="val 4278"/>
            </a:avLst>
          </a:prstGeom>
          <a:solidFill>
            <a:srgbClr val="1B4A2B"/>
          </a:solidFill>
          <a:ln w="12700">
            <a:solidFill>
              <a:srgbClr val="2F6E42"/>
            </a:solidFill>
            <a:prstDash val="solid"/>
          </a:ln>
        </p:spPr>
      </p:sp>
      <p:sp>
        <p:nvSpPr>
          <p:cNvPr id="24" name="Shape 22"/>
          <p:cNvSpPr/>
          <p:nvPr/>
        </p:nvSpPr>
        <p:spPr>
          <a:xfrm>
            <a:off x="9640062" y="2880360"/>
            <a:ext cx="512064" cy="512064"/>
          </a:xfrm>
          <a:prstGeom prst="ellipse">
            <a:avLst/>
          </a:prstGeom>
          <a:solidFill>
            <a:srgbClr val="E0A12E"/>
          </a:solidFill>
          <a:ln/>
        </p:spPr>
      </p:sp>
      <p:sp>
        <p:nvSpPr>
          <p:cNvPr id="25" name="Text 23"/>
          <p:cNvSpPr txBox="1"/>
          <p:nvPr/>
        </p:nvSpPr>
        <p:spPr>
          <a:xfrm>
            <a:off x="9640062" y="2880360"/>
            <a:ext cx="512064" cy="512064"/>
          </a:xfrm>
          <a:prstGeom prst="rect">
            <a:avLst/>
          </a:prstGeom>
          <a:noFill/>
          <a:ln/>
        </p:spPr>
        <p:txBody>
          <a:bodyPr wrap="square" lIns="0" tIns="0" rIns="0" bIns="0" rtlCol="0" anchor="ctr"/>
          <a:lstStyle/>
          <a:p>
            <a:pPr algn="ctr" indent="0" marL="0">
              <a:buNone/>
            </a:pPr>
            <a:r>
              <a:rPr lang="en-US" sz="1500" b="1" dirty="0">
                <a:solidFill>
                  <a:srgbClr val="211C16"/>
                </a:solidFill>
                <a:latin typeface="Calibri" pitchFamily="34" charset="0"/>
                <a:ea typeface="Calibri" pitchFamily="34" charset="-122"/>
                <a:cs typeface="Calibri" pitchFamily="34" charset="-120"/>
              </a:rPr>
              <a:t>04</a:t>
            </a:r>
            <a:endParaRPr lang="en-US" sz="1500" dirty="0"/>
          </a:p>
        </p:txBody>
      </p:sp>
      <p:sp>
        <p:nvSpPr>
          <p:cNvPr id="26" name="Text 24"/>
          <p:cNvSpPr txBox="1"/>
          <p:nvPr/>
        </p:nvSpPr>
        <p:spPr>
          <a:xfrm>
            <a:off x="9640062" y="3483864"/>
            <a:ext cx="1625346" cy="36576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Sell</a:t>
            </a:r>
            <a:endParaRPr lang="en-US" sz="2100" dirty="0"/>
          </a:p>
        </p:txBody>
      </p:sp>
      <p:sp>
        <p:nvSpPr>
          <p:cNvPr id="27" name="Text 25"/>
          <p:cNvSpPr txBox="1"/>
          <p:nvPr/>
        </p:nvSpPr>
        <p:spPr>
          <a:xfrm>
            <a:off x="9640062" y="3886200"/>
            <a:ext cx="1625346" cy="868680"/>
          </a:xfrm>
          <a:prstGeom prst="rect">
            <a:avLst/>
          </a:prstGeom>
          <a:noFill/>
          <a:ln/>
        </p:spPr>
        <p:txBody>
          <a:bodyPr wrap="square" lIns="0" tIns="0" rIns="0" bIns="0" rtlCol="0" anchor="t"/>
          <a:lstStyle/>
          <a:p>
            <a:pPr indent="0" marL="0">
              <a:lnSpc>
                <a:spcPts val="1800"/>
              </a:lnSpc>
              <a:buNone/>
            </a:pPr>
            <a:r>
              <a:rPr lang="en-US" sz="1250" dirty="0">
                <a:solidFill>
                  <a:srgbClr val="D6E4D3"/>
                </a:solidFill>
                <a:latin typeface="Calibri" pitchFamily="34" charset="0"/>
                <a:ea typeface="Calibri" pitchFamily="34" charset="-122"/>
                <a:cs typeface="Calibri" pitchFamily="34" charset="-120"/>
              </a:rPr>
              <a:t>The company sells as one seller, invoices under its own GSTIN, and returns the surplus to members.</a:t>
            </a:r>
            <a:endParaRPr lang="en-US" sz="1250" dirty="0"/>
          </a:p>
        </p:txBody>
      </p:sp>
      <p:sp>
        <p:nvSpPr>
          <p:cNvPr id="28" name="Text 26"/>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700" i="1" dirty="0">
                <a:solidFill>
                  <a:srgbClr val="E0A12E"/>
                </a:solidFill>
                <a:latin typeface="Cambria" pitchFamily="34" charset="0"/>
                <a:ea typeface="Cambria" pitchFamily="34" charset="-122"/>
                <a:cs typeface="Cambria" pitchFamily="34" charset="-120"/>
              </a:rPr>
              <a:t>Every rupee of margin that stops at the company instead of an intermediary is a rupee that goes back to a member.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MEMBERSHIP</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Where our members farm</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81328"/>
            <a:ext cx="9509760" cy="365760"/>
          </a:xfrm>
          <a:prstGeom prst="rect">
            <a:avLst/>
          </a:prstGeom>
          <a:noFill/>
          <a:ln/>
        </p:spPr>
        <p:txBody>
          <a:bodyPr wrap="square" lIns="0" tIns="0" rIns="0" bIns="0" rtlCol="0" anchor="t"/>
          <a:lstStyle/>
          <a:p>
            <a:pPr indent="0" marL="0">
              <a:buNone/>
            </a:pPr>
            <a:r>
              <a:rPr lang="en-US" sz="1450" dirty="0">
                <a:solidFill>
                  <a:srgbClr val="211C16"/>
                </a:solidFill>
                <a:latin typeface="Calibri" pitchFamily="34" charset="0"/>
                <a:ea typeface="Calibri" pitchFamily="34" charset="-122"/>
                <a:cs typeface="Calibri" pitchFamily="34" charset="-120"/>
              </a:rPr>
              <a:t>201 shareholder-members across nine villages in five blocks of the Banda–Mahoba–Jalaun belt.</a:t>
            </a:r>
            <a:endParaRPr lang="en-US" sz="1450" dirty="0"/>
          </a:p>
        </p:txBody>
      </p:sp>
      <p:sp>
        <p:nvSpPr>
          <p:cNvPr id="6" name="Text 3"/>
          <p:cNvSpPr txBox="1"/>
          <p:nvPr/>
        </p:nvSpPr>
        <p:spPr>
          <a:xfrm>
            <a:off x="640080" y="1975104"/>
            <a:ext cx="6583680" cy="256032"/>
          </a:xfrm>
          <a:prstGeom prst="rect">
            <a:avLst/>
          </a:prstGeom>
          <a:noFill/>
          <a:ln/>
        </p:spPr>
        <p:txBody>
          <a:bodyPr wrap="square" lIns="0" tIns="0" rIns="0" bIns="0" rtlCol="0" anchor="ctr"/>
          <a:lstStyle/>
          <a:p>
            <a:pPr indent="0" marL="0">
              <a:buNone/>
            </a:pPr>
            <a:r>
              <a:rPr lang="en-US" sz="1100" b="1" spc="160" kern="0" dirty="0">
                <a:solidFill>
                  <a:srgbClr val="6E6A63"/>
                </a:solidFill>
                <a:latin typeface="Calibri" pitchFamily="34" charset="0"/>
                <a:ea typeface="Calibri" pitchFamily="34" charset="-122"/>
                <a:cs typeface="Calibri" pitchFamily="34" charset="-120"/>
              </a:rPr>
              <a:t>MEMBERS BY VILLAGE</a:t>
            </a:r>
            <a:endParaRPr lang="en-US" sz="1100" dirty="0"/>
          </a:p>
        </p:txBody>
      </p:sp>
      <p:sp>
        <p:nvSpPr>
          <p:cNvPr id="7" name="Text 4"/>
          <p:cNvSpPr txBox="1"/>
          <p:nvPr/>
        </p:nvSpPr>
        <p:spPr>
          <a:xfrm>
            <a:off x="640080" y="23408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Bambiya</a:t>
            </a:r>
            <a:endParaRPr lang="en-US" sz="1250" dirty="0"/>
          </a:p>
        </p:txBody>
      </p:sp>
      <p:sp>
        <p:nvSpPr>
          <p:cNvPr id="8" name="Shape 5"/>
          <p:cNvSpPr/>
          <p:nvPr/>
        </p:nvSpPr>
        <p:spPr>
          <a:xfrm>
            <a:off x="2057400" y="2404872"/>
            <a:ext cx="4663440" cy="201168"/>
          </a:xfrm>
          <a:prstGeom prst="roundRect">
            <a:avLst>
              <a:gd name="adj" fmla="val 227273"/>
            </a:avLst>
          </a:prstGeom>
          <a:solidFill>
            <a:srgbClr val="F1EDE2"/>
          </a:solidFill>
          <a:ln w="12700">
            <a:solidFill>
              <a:srgbClr val="F1EDE2"/>
            </a:solidFill>
            <a:prstDash val="solid"/>
          </a:ln>
        </p:spPr>
      </p:sp>
      <p:sp>
        <p:nvSpPr>
          <p:cNvPr id="9" name="Shape 6"/>
          <p:cNvSpPr/>
          <p:nvPr/>
        </p:nvSpPr>
        <p:spPr>
          <a:xfrm>
            <a:off x="2057400" y="2404872"/>
            <a:ext cx="4663440" cy="201168"/>
          </a:xfrm>
          <a:prstGeom prst="roundRect">
            <a:avLst>
              <a:gd name="adj" fmla="val 227273"/>
            </a:avLst>
          </a:prstGeom>
          <a:solidFill>
            <a:srgbClr val="245C36"/>
          </a:solidFill>
          <a:ln w="12700">
            <a:solidFill>
              <a:srgbClr val="245C36"/>
            </a:solidFill>
            <a:prstDash val="solid"/>
          </a:ln>
        </p:spPr>
      </p:sp>
      <p:sp>
        <p:nvSpPr>
          <p:cNvPr id="10" name="Text 7"/>
          <p:cNvSpPr txBox="1"/>
          <p:nvPr/>
        </p:nvSpPr>
        <p:spPr>
          <a:xfrm>
            <a:off x="6848856" y="23408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90</a:t>
            </a:r>
            <a:endParaRPr lang="en-US" sz="1250" dirty="0"/>
          </a:p>
        </p:txBody>
      </p:sp>
      <p:sp>
        <p:nvSpPr>
          <p:cNvPr id="11" name="Text 8"/>
          <p:cNvSpPr txBox="1"/>
          <p:nvPr/>
        </p:nvSpPr>
        <p:spPr>
          <a:xfrm>
            <a:off x="640080" y="27980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Chirhuta</a:t>
            </a:r>
            <a:endParaRPr lang="en-US" sz="1250" dirty="0"/>
          </a:p>
        </p:txBody>
      </p:sp>
      <p:sp>
        <p:nvSpPr>
          <p:cNvPr id="12" name="Shape 9"/>
          <p:cNvSpPr/>
          <p:nvPr/>
        </p:nvSpPr>
        <p:spPr>
          <a:xfrm>
            <a:off x="2057400" y="2862072"/>
            <a:ext cx="4663440" cy="201168"/>
          </a:xfrm>
          <a:prstGeom prst="roundRect">
            <a:avLst>
              <a:gd name="adj" fmla="val 227273"/>
            </a:avLst>
          </a:prstGeom>
          <a:solidFill>
            <a:srgbClr val="F1EDE2"/>
          </a:solidFill>
          <a:ln w="12700">
            <a:solidFill>
              <a:srgbClr val="F1EDE2"/>
            </a:solidFill>
            <a:prstDash val="solid"/>
          </a:ln>
        </p:spPr>
      </p:sp>
      <p:sp>
        <p:nvSpPr>
          <p:cNvPr id="13" name="Shape 10"/>
          <p:cNvSpPr/>
          <p:nvPr/>
        </p:nvSpPr>
        <p:spPr>
          <a:xfrm>
            <a:off x="2057400" y="2862072"/>
            <a:ext cx="1709928" cy="201168"/>
          </a:xfrm>
          <a:prstGeom prst="roundRect">
            <a:avLst>
              <a:gd name="adj" fmla="val 227273"/>
            </a:avLst>
          </a:prstGeom>
          <a:solidFill>
            <a:srgbClr val="245C36"/>
          </a:solidFill>
          <a:ln w="12700">
            <a:solidFill>
              <a:srgbClr val="245C36"/>
            </a:solidFill>
            <a:prstDash val="solid"/>
          </a:ln>
        </p:spPr>
      </p:sp>
      <p:sp>
        <p:nvSpPr>
          <p:cNvPr id="14" name="Text 11"/>
          <p:cNvSpPr txBox="1"/>
          <p:nvPr/>
        </p:nvSpPr>
        <p:spPr>
          <a:xfrm>
            <a:off x="6848856" y="27980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33</a:t>
            </a:r>
            <a:endParaRPr lang="en-US" sz="1250" dirty="0"/>
          </a:p>
        </p:txBody>
      </p:sp>
      <p:sp>
        <p:nvSpPr>
          <p:cNvPr id="15" name="Text 12"/>
          <p:cNvSpPr txBox="1"/>
          <p:nvPr/>
        </p:nvSpPr>
        <p:spPr>
          <a:xfrm>
            <a:off x="640080" y="32552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Gugauli</a:t>
            </a:r>
            <a:endParaRPr lang="en-US" sz="1250" dirty="0"/>
          </a:p>
        </p:txBody>
      </p:sp>
      <p:sp>
        <p:nvSpPr>
          <p:cNvPr id="16" name="Shape 13"/>
          <p:cNvSpPr/>
          <p:nvPr/>
        </p:nvSpPr>
        <p:spPr>
          <a:xfrm>
            <a:off x="2057400" y="3319272"/>
            <a:ext cx="4663440" cy="201168"/>
          </a:xfrm>
          <a:prstGeom prst="roundRect">
            <a:avLst>
              <a:gd name="adj" fmla="val 227273"/>
            </a:avLst>
          </a:prstGeom>
          <a:solidFill>
            <a:srgbClr val="F1EDE2"/>
          </a:solidFill>
          <a:ln w="12700">
            <a:solidFill>
              <a:srgbClr val="F1EDE2"/>
            </a:solidFill>
            <a:prstDash val="solid"/>
          </a:ln>
        </p:spPr>
      </p:sp>
      <p:sp>
        <p:nvSpPr>
          <p:cNvPr id="17" name="Shape 14"/>
          <p:cNvSpPr/>
          <p:nvPr/>
        </p:nvSpPr>
        <p:spPr>
          <a:xfrm>
            <a:off x="2057400" y="3319272"/>
            <a:ext cx="1606296" cy="201168"/>
          </a:xfrm>
          <a:prstGeom prst="roundRect">
            <a:avLst>
              <a:gd name="adj" fmla="val 227273"/>
            </a:avLst>
          </a:prstGeom>
          <a:solidFill>
            <a:srgbClr val="245C36"/>
          </a:solidFill>
          <a:ln w="12700">
            <a:solidFill>
              <a:srgbClr val="245C36"/>
            </a:solidFill>
            <a:prstDash val="solid"/>
          </a:ln>
        </p:spPr>
      </p:sp>
      <p:sp>
        <p:nvSpPr>
          <p:cNvPr id="18" name="Text 15"/>
          <p:cNvSpPr txBox="1"/>
          <p:nvPr/>
        </p:nvSpPr>
        <p:spPr>
          <a:xfrm>
            <a:off x="6848856" y="32552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31</a:t>
            </a:r>
            <a:endParaRPr lang="en-US" sz="1250" dirty="0"/>
          </a:p>
        </p:txBody>
      </p:sp>
      <p:sp>
        <p:nvSpPr>
          <p:cNvPr id="19" name="Text 16"/>
          <p:cNvSpPr txBox="1"/>
          <p:nvPr/>
        </p:nvSpPr>
        <p:spPr>
          <a:xfrm>
            <a:off x="640080" y="37124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Palra</a:t>
            </a:r>
            <a:endParaRPr lang="en-US" sz="1250" dirty="0"/>
          </a:p>
        </p:txBody>
      </p:sp>
      <p:sp>
        <p:nvSpPr>
          <p:cNvPr id="20" name="Shape 17"/>
          <p:cNvSpPr/>
          <p:nvPr/>
        </p:nvSpPr>
        <p:spPr>
          <a:xfrm>
            <a:off x="2057400" y="3776472"/>
            <a:ext cx="4663440" cy="201168"/>
          </a:xfrm>
          <a:prstGeom prst="roundRect">
            <a:avLst>
              <a:gd name="adj" fmla="val 227273"/>
            </a:avLst>
          </a:prstGeom>
          <a:solidFill>
            <a:srgbClr val="F1EDE2"/>
          </a:solidFill>
          <a:ln w="12700">
            <a:solidFill>
              <a:srgbClr val="F1EDE2"/>
            </a:solidFill>
            <a:prstDash val="solid"/>
          </a:ln>
        </p:spPr>
      </p:sp>
      <p:sp>
        <p:nvSpPr>
          <p:cNvPr id="21" name="Shape 18"/>
          <p:cNvSpPr/>
          <p:nvPr/>
        </p:nvSpPr>
        <p:spPr>
          <a:xfrm>
            <a:off x="2057400" y="3776472"/>
            <a:ext cx="1347216" cy="201168"/>
          </a:xfrm>
          <a:prstGeom prst="roundRect">
            <a:avLst>
              <a:gd name="adj" fmla="val 227273"/>
            </a:avLst>
          </a:prstGeom>
          <a:solidFill>
            <a:srgbClr val="245C36"/>
          </a:solidFill>
          <a:ln w="12700">
            <a:solidFill>
              <a:srgbClr val="245C36"/>
            </a:solidFill>
            <a:prstDash val="solid"/>
          </a:ln>
        </p:spPr>
      </p:sp>
      <p:sp>
        <p:nvSpPr>
          <p:cNvPr id="22" name="Text 19"/>
          <p:cNvSpPr txBox="1"/>
          <p:nvPr/>
        </p:nvSpPr>
        <p:spPr>
          <a:xfrm>
            <a:off x="6848856" y="37124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26</a:t>
            </a:r>
            <a:endParaRPr lang="en-US" sz="1250" dirty="0"/>
          </a:p>
        </p:txBody>
      </p:sp>
      <p:sp>
        <p:nvSpPr>
          <p:cNvPr id="23" name="Text 20"/>
          <p:cNvSpPr txBox="1"/>
          <p:nvPr/>
        </p:nvSpPr>
        <p:spPr>
          <a:xfrm>
            <a:off x="640080" y="41696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Ujrehta</a:t>
            </a:r>
            <a:endParaRPr lang="en-US" sz="1250" dirty="0"/>
          </a:p>
        </p:txBody>
      </p:sp>
      <p:sp>
        <p:nvSpPr>
          <p:cNvPr id="24" name="Shape 21"/>
          <p:cNvSpPr/>
          <p:nvPr/>
        </p:nvSpPr>
        <p:spPr>
          <a:xfrm>
            <a:off x="2057400" y="4233672"/>
            <a:ext cx="4663440" cy="201168"/>
          </a:xfrm>
          <a:prstGeom prst="roundRect">
            <a:avLst>
              <a:gd name="adj" fmla="val 227273"/>
            </a:avLst>
          </a:prstGeom>
          <a:solidFill>
            <a:srgbClr val="F1EDE2"/>
          </a:solidFill>
          <a:ln w="12700">
            <a:solidFill>
              <a:srgbClr val="F1EDE2"/>
            </a:solidFill>
            <a:prstDash val="solid"/>
          </a:ln>
        </p:spPr>
      </p:sp>
      <p:sp>
        <p:nvSpPr>
          <p:cNvPr id="25" name="Shape 22"/>
          <p:cNvSpPr/>
          <p:nvPr/>
        </p:nvSpPr>
        <p:spPr>
          <a:xfrm>
            <a:off x="2057400" y="4233672"/>
            <a:ext cx="829056" cy="201168"/>
          </a:xfrm>
          <a:prstGeom prst="roundRect">
            <a:avLst>
              <a:gd name="adj" fmla="val 227273"/>
            </a:avLst>
          </a:prstGeom>
          <a:solidFill>
            <a:srgbClr val="245C36"/>
          </a:solidFill>
          <a:ln w="12700">
            <a:solidFill>
              <a:srgbClr val="245C36"/>
            </a:solidFill>
            <a:prstDash val="solid"/>
          </a:ln>
        </p:spPr>
      </p:sp>
      <p:sp>
        <p:nvSpPr>
          <p:cNvPr id="26" name="Text 23"/>
          <p:cNvSpPr txBox="1"/>
          <p:nvPr/>
        </p:nvSpPr>
        <p:spPr>
          <a:xfrm>
            <a:off x="6848856" y="41696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16</a:t>
            </a:r>
            <a:endParaRPr lang="en-US" sz="1250" dirty="0"/>
          </a:p>
        </p:txBody>
      </p:sp>
      <p:sp>
        <p:nvSpPr>
          <p:cNvPr id="27" name="Text 24"/>
          <p:cNvSpPr txBox="1"/>
          <p:nvPr/>
        </p:nvSpPr>
        <p:spPr>
          <a:xfrm>
            <a:off x="640080" y="46268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Alona</a:t>
            </a:r>
            <a:endParaRPr lang="en-US" sz="1250" dirty="0"/>
          </a:p>
        </p:txBody>
      </p:sp>
      <p:sp>
        <p:nvSpPr>
          <p:cNvPr id="28" name="Shape 25"/>
          <p:cNvSpPr/>
          <p:nvPr/>
        </p:nvSpPr>
        <p:spPr>
          <a:xfrm>
            <a:off x="2057400" y="4690872"/>
            <a:ext cx="4663440" cy="201168"/>
          </a:xfrm>
          <a:prstGeom prst="roundRect">
            <a:avLst>
              <a:gd name="adj" fmla="val 227273"/>
            </a:avLst>
          </a:prstGeom>
          <a:solidFill>
            <a:srgbClr val="F1EDE2"/>
          </a:solidFill>
          <a:ln w="12700">
            <a:solidFill>
              <a:srgbClr val="F1EDE2"/>
            </a:solidFill>
            <a:prstDash val="solid"/>
          </a:ln>
        </p:spPr>
      </p:sp>
      <p:sp>
        <p:nvSpPr>
          <p:cNvPr id="29" name="Shape 26"/>
          <p:cNvSpPr/>
          <p:nvPr/>
        </p:nvSpPr>
        <p:spPr>
          <a:xfrm>
            <a:off x="2057400" y="4690872"/>
            <a:ext cx="103632" cy="201168"/>
          </a:xfrm>
          <a:prstGeom prst="roundRect">
            <a:avLst>
              <a:gd name="adj" fmla="val 441176"/>
            </a:avLst>
          </a:prstGeom>
          <a:solidFill>
            <a:srgbClr val="5C9A4F"/>
          </a:solidFill>
          <a:ln w="12700">
            <a:solidFill>
              <a:srgbClr val="5C9A4F"/>
            </a:solidFill>
            <a:prstDash val="solid"/>
          </a:ln>
        </p:spPr>
      </p:sp>
      <p:sp>
        <p:nvSpPr>
          <p:cNvPr id="30" name="Text 27"/>
          <p:cNvSpPr txBox="1"/>
          <p:nvPr/>
        </p:nvSpPr>
        <p:spPr>
          <a:xfrm>
            <a:off x="6848856" y="46268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2</a:t>
            </a:r>
            <a:endParaRPr lang="en-US" sz="1250" dirty="0"/>
          </a:p>
        </p:txBody>
      </p:sp>
      <p:sp>
        <p:nvSpPr>
          <p:cNvPr id="31" name="Text 28"/>
          <p:cNvSpPr txBox="1"/>
          <p:nvPr/>
        </p:nvSpPr>
        <p:spPr>
          <a:xfrm>
            <a:off x="640080" y="50840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Kapsa</a:t>
            </a:r>
            <a:endParaRPr lang="en-US" sz="1250" dirty="0"/>
          </a:p>
        </p:txBody>
      </p:sp>
      <p:sp>
        <p:nvSpPr>
          <p:cNvPr id="32" name="Shape 29"/>
          <p:cNvSpPr/>
          <p:nvPr/>
        </p:nvSpPr>
        <p:spPr>
          <a:xfrm>
            <a:off x="2057400" y="5148072"/>
            <a:ext cx="4663440" cy="201168"/>
          </a:xfrm>
          <a:prstGeom prst="roundRect">
            <a:avLst>
              <a:gd name="adj" fmla="val 227273"/>
            </a:avLst>
          </a:prstGeom>
          <a:solidFill>
            <a:srgbClr val="F1EDE2"/>
          </a:solidFill>
          <a:ln w="12700">
            <a:solidFill>
              <a:srgbClr val="F1EDE2"/>
            </a:solidFill>
            <a:prstDash val="solid"/>
          </a:ln>
        </p:spPr>
      </p:sp>
      <p:sp>
        <p:nvSpPr>
          <p:cNvPr id="33" name="Shape 30"/>
          <p:cNvSpPr/>
          <p:nvPr/>
        </p:nvSpPr>
        <p:spPr>
          <a:xfrm>
            <a:off x="2057400" y="5148072"/>
            <a:ext cx="91440" cy="201168"/>
          </a:xfrm>
          <a:prstGeom prst="roundRect">
            <a:avLst>
              <a:gd name="adj" fmla="val 500000"/>
            </a:avLst>
          </a:prstGeom>
          <a:solidFill>
            <a:srgbClr val="5C9A4F"/>
          </a:solidFill>
          <a:ln w="12700">
            <a:solidFill>
              <a:srgbClr val="5C9A4F"/>
            </a:solidFill>
            <a:prstDash val="solid"/>
          </a:ln>
        </p:spPr>
      </p:sp>
      <p:sp>
        <p:nvSpPr>
          <p:cNvPr id="34" name="Text 31"/>
          <p:cNvSpPr txBox="1"/>
          <p:nvPr/>
        </p:nvSpPr>
        <p:spPr>
          <a:xfrm>
            <a:off x="6848856" y="50840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1</a:t>
            </a:r>
            <a:endParaRPr lang="en-US" sz="1250" dirty="0"/>
          </a:p>
        </p:txBody>
      </p:sp>
      <p:sp>
        <p:nvSpPr>
          <p:cNvPr id="35" name="Text 32"/>
          <p:cNvSpPr txBox="1"/>
          <p:nvPr/>
        </p:nvSpPr>
        <p:spPr>
          <a:xfrm>
            <a:off x="640080" y="55412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Itaura</a:t>
            </a:r>
            <a:endParaRPr lang="en-US" sz="1250" dirty="0"/>
          </a:p>
        </p:txBody>
      </p:sp>
      <p:sp>
        <p:nvSpPr>
          <p:cNvPr id="36" name="Shape 33"/>
          <p:cNvSpPr/>
          <p:nvPr/>
        </p:nvSpPr>
        <p:spPr>
          <a:xfrm>
            <a:off x="2057400" y="5605272"/>
            <a:ext cx="4663440" cy="201168"/>
          </a:xfrm>
          <a:prstGeom prst="roundRect">
            <a:avLst>
              <a:gd name="adj" fmla="val 227273"/>
            </a:avLst>
          </a:prstGeom>
          <a:solidFill>
            <a:srgbClr val="F1EDE2"/>
          </a:solidFill>
          <a:ln w="12700">
            <a:solidFill>
              <a:srgbClr val="F1EDE2"/>
            </a:solidFill>
            <a:prstDash val="solid"/>
          </a:ln>
        </p:spPr>
      </p:sp>
      <p:sp>
        <p:nvSpPr>
          <p:cNvPr id="37" name="Shape 34"/>
          <p:cNvSpPr/>
          <p:nvPr/>
        </p:nvSpPr>
        <p:spPr>
          <a:xfrm>
            <a:off x="2057400" y="5605272"/>
            <a:ext cx="91440" cy="201168"/>
          </a:xfrm>
          <a:prstGeom prst="roundRect">
            <a:avLst>
              <a:gd name="adj" fmla="val 500000"/>
            </a:avLst>
          </a:prstGeom>
          <a:solidFill>
            <a:srgbClr val="5C9A4F"/>
          </a:solidFill>
          <a:ln w="12700">
            <a:solidFill>
              <a:srgbClr val="5C9A4F"/>
            </a:solidFill>
            <a:prstDash val="solid"/>
          </a:ln>
        </p:spPr>
      </p:sp>
      <p:sp>
        <p:nvSpPr>
          <p:cNvPr id="38" name="Text 35"/>
          <p:cNvSpPr txBox="1"/>
          <p:nvPr/>
        </p:nvSpPr>
        <p:spPr>
          <a:xfrm>
            <a:off x="6848856" y="55412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1</a:t>
            </a:r>
            <a:endParaRPr lang="en-US" sz="1250" dirty="0"/>
          </a:p>
        </p:txBody>
      </p:sp>
      <p:sp>
        <p:nvSpPr>
          <p:cNvPr id="39" name="Text 36"/>
          <p:cNvSpPr txBox="1"/>
          <p:nvPr/>
        </p:nvSpPr>
        <p:spPr>
          <a:xfrm>
            <a:off x="640080" y="5998464"/>
            <a:ext cx="1298448" cy="329184"/>
          </a:xfrm>
          <a:prstGeom prst="rect">
            <a:avLst/>
          </a:prstGeom>
          <a:noFill/>
          <a:ln/>
        </p:spPr>
        <p:txBody>
          <a:bodyPr wrap="square" lIns="0" tIns="0" rIns="0" bIns="0" rtlCol="0" anchor="ctr"/>
          <a:lstStyle/>
          <a:p>
            <a:pPr algn="r" indent="0" marL="0">
              <a:buNone/>
            </a:pPr>
            <a:r>
              <a:rPr lang="en-US" sz="1250" b="1" dirty="0">
                <a:solidFill>
                  <a:srgbClr val="211C16"/>
                </a:solidFill>
                <a:latin typeface="Calibri" pitchFamily="34" charset="0"/>
                <a:ea typeface="Calibri" pitchFamily="34" charset="-122"/>
                <a:cs typeface="Calibri" pitchFamily="34" charset="-120"/>
              </a:rPr>
              <a:t>Banda</a:t>
            </a:r>
            <a:endParaRPr lang="en-US" sz="1250" dirty="0"/>
          </a:p>
        </p:txBody>
      </p:sp>
      <p:sp>
        <p:nvSpPr>
          <p:cNvPr id="40" name="Shape 37"/>
          <p:cNvSpPr/>
          <p:nvPr/>
        </p:nvSpPr>
        <p:spPr>
          <a:xfrm>
            <a:off x="2057400" y="6062472"/>
            <a:ext cx="4663440" cy="201168"/>
          </a:xfrm>
          <a:prstGeom prst="roundRect">
            <a:avLst>
              <a:gd name="adj" fmla="val 227273"/>
            </a:avLst>
          </a:prstGeom>
          <a:solidFill>
            <a:srgbClr val="F1EDE2"/>
          </a:solidFill>
          <a:ln w="12700">
            <a:solidFill>
              <a:srgbClr val="F1EDE2"/>
            </a:solidFill>
            <a:prstDash val="solid"/>
          </a:ln>
        </p:spPr>
      </p:sp>
      <p:sp>
        <p:nvSpPr>
          <p:cNvPr id="41" name="Shape 38"/>
          <p:cNvSpPr/>
          <p:nvPr/>
        </p:nvSpPr>
        <p:spPr>
          <a:xfrm>
            <a:off x="2057400" y="6062472"/>
            <a:ext cx="91440" cy="201168"/>
          </a:xfrm>
          <a:prstGeom prst="roundRect">
            <a:avLst>
              <a:gd name="adj" fmla="val 500000"/>
            </a:avLst>
          </a:prstGeom>
          <a:solidFill>
            <a:srgbClr val="5C9A4F"/>
          </a:solidFill>
          <a:ln w="12700">
            <a:solidFill>
              <a:srgbClr val="5C9A4F"/>
            </a:solidFill>
            <a:prstDash val="solid"/>
          </a:ln>
        </p:spPr>
      </p:sp>
      <p:sp>
        <p:nvSpPr>
          <p:cNvPr id="42" name="Text 39"/>
          <p:cNvSpPr txBox="1"/>
          <p:nvPr/>
        </p:nvSpPr>
        <p:spPr>
          <a:xfrm>
            <a:off x="6848856" y="5998464"/>
            <a:ext cx="502920" cy="329184"/>
          </a:xfrm>
          <a:prstGeom prst="rect">
            <a:avLst/>
          </a:prstGeom>
          <a:noFill/>
          <a:ln/>
        </p:spPr>
        <p:txBody>
          <a:bodyPr wrap="square" lIns="0" tIns="0" rIns="0" bIns="0" rtlCol="0" anchor="ctr"/>
          <a:lstStyle/>
          <a:p>
            <a:pPr indent="0" marL="0">
              <a:buNone/>
            </a:pPr>
            <a:r>
              <a:rPr lang="en-US" sz="1250" b="1" dirty="0">
                <a:solidFill>
                  <a:srgbClr val="245C36"/>
                </a:solidFill>
                <a:latin typeface="Calibri" pitchFamily="34" charset="0"/>
                <a:ea typeface="Calibri" pitchFamily="34" charset="-122"/>
                <a:cs typeface="Calibri" pitchFamily="34" charset="-120"/>
              </a:rPr>
              <a:t>1</a:t>
            </a:r>
            <a:endParaRPr lang="en-US" sz="1250" dirty="0"/>
          </a:p>
        </p:txBody>
      </p:sp>
      <p:sp>
        <p:nvSpPr>
          <p:cNvPr id="43" name="Shape 40"/>
          <p:cNvSpPr/>
          <p:nvPr/>
        </p:nvSpPr>
        <p:spPr>
          <a:xfrm>
            <a:off x="7863840" y="2331720"/>
            <a:ext cx="3657600" cy="960120"/>
          </a:xfrm>
          <a:prstGeom prst="roundRect">
            <a:avLst>
              <a:gd name="adj" fmla="val 952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44" name="Text 41"/>
          <p:cNvSpPr txBox="1"/>
          <p:nvPr/>
        </p:nvSpPr>
        <p:spPr>
          <a:xfrm>
            <a:off x="8092440" y="2441448"/>
            <a:ext cx="3200400" cy="457200"/>
          </a:xfrm>
          <a:prstGeom prst="rect">
            <a:avLst/>
          </a:prstGeom>
          <a:noFill/>
          <a:ln/>
        </p:spPr>
        <p:txBody>
          <a:bodyPr wrap="square" lIns="0" tIns="0" rIns="0" bIns="0" rtlCol="0" anchor="ctr"/>
          <a:lstStyle/>
          <a:p>
            <a:pPr indent="0" marL="0">
              <a:buNone/>
            </a:pPr>
            <a:r>
              <a:rPr lang="en-US" sz="2800" b="1" dirty="0">
                <a:solidFill>
                  <a:srgbClr val="245C36"/>
                </a:solidFill>
                <a:latin typeface="Cambria" pitchFamily="34" charset="0"/>
                <a:ea typeface="Cambria" pitchFamily="34" charset="-122"/>
                <a:cs typeface="Cambria" pitchFamily="34" charset="-120"/>
              </a:rPr>
              <a:t>1,329</a:t>
            </a:r>
            <a:endParaRPr lang="en-US" sz="2800" dirty="0"/>
          </a:p>
        </p:txBody>
      </p:sp>
      <p:sp>
        <p:nvSpPr>
          <p:cNvPr id="45" name="Text 42"/>
          <p:cNvSpPr txBox="1"/>
          <p:nvPr/>
        </p:nvSpPr>
        <p:spPr>
          <a:xfrm>
            <a:off x="8092440" y="2907792"/>
            <a:ext cx="3200400" cy="274320"/>
          </a:xfrm>
          <a:prstGeom prst="rect">
            <a:avLst/>
          </a:prstGeom>
          <a:noFill/>
          <a:ln/>
        </p:spPr>
        <p:txBody>
          <a:bodyPr wrap="square" lIns="0" tIns="0" rIns="0" bIns="0" rtlCol="0" anchor="t"/>
          <a:lstStyle/>
          <a:p>
            <a:pPr indent="0" marL="0">
              <a:buNone/>
            </a:pPr>
            <a:r>
              <a:rPr lang="en-US" sz="1150" dirty="0">
                <a:solidFill>
                  <a:srgbClr val="6E6A63"/>
                </a:solidFill>
                <a:latin typeface="Calibri" pitchFamily="34" charset="0"/>
                <a:ea typeface="Calibri" pitchFamily="34" charset="-122"/>
                <a:cs typeface="Calibri" pitchFamily="34" charset="-120"/>
              </a:rPr>
              <a:t>shares held between all members</a:t>
            </a:r>
            <a:endParaRPr lang="en-US" sz="1150" dirty="0"/>
          </a:p>
        </p:txBody>
      </p:sp>
      <p:sp>
        <p:nvSpPr>
          <p:cNvPr id="46" name="Shape 43"/>
          <p:cNvSpPr/>
          <p:nvPr/>
        </p:nvSpPr>
        <p:spPr>
          <a:xfrm>
            <a:off x="7863840" y="3474720"/>
            <a:ext cx="3657600" cy="960120"/>
          </a:xfrm>
          <a:prstGeom prst="roundRect">
            <a:avLst>
              <a:gd name="adj" fmla="val 952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47" name="Text 44"/>
          <p:cNvSpPr txBox="1"/>
          <p:nvPr/>
        </p:nvSpPr>
        <p:spPr>
          <a:xfrm>
            <a:off x="8092440" y="3584448"/>
            <a:ext cx="3200400" cy="457200"/>
          </a:xfrm>
          <a:prstGeom prst="rect">
            <a:avLst/>
          </a:prstGeom>
          <a:noFill/>
          <a:ln/>
        </p:spPr>
        <p:txBody>
          <a:bodyPr wrap="square" lIns="0" tIns="0" rIns="0" bIns="0" rtlCol="0" anchor="ctr"/>
          <a:lstStyle/>
          <a:p>
            <a:pPr indent="0" marL="0">
              <a:buNone/>
            </a:pPr>
            <a:r>
              <a:rPr lang="en-US" sz="2800" b="1" dirty="0">
                <a:solidFill>
                  <a:srgbClr val="245C36"/>
                </a:solidFill>
                <a:latin typeface="Cambria" pitchFamily="34" charset="0"/>
                <a:ea typeface="Cambria" pitchFamily="34" charset="-122"/>
                <a:cs typeface="Cambria" pitchFamily="34" charset="-120"/>
              </a:rPr>
              <a:t>₹13,290</a:t>
            </a:r>
            <a:endParaRPr lang="en-US" sz="2800" dirty="0"/>
          </a:p>
        </p:txBody>
      </p:sp>
      <p:sp>
        <p:nvSpPr>
          <p:cNvPr id="48" name="Text 45"/>
          <p:cNvSpPr txBox="1"/>
          <p:nvPr/>
        </p:nvSpPr>
        <p:spPr>
          <a:xfrm>
            <a:off x="8092440" y="4050792"/>
            <a:ext cx="3200400" cy="274320"/>
          </a:xfrm>
          <a:prstGeom prst="rect">
            <a:avLst/>
          </a:prstGeom>
          <a:noFill/>
          <a:ln/>
        </p:spPr>
        <p:txBody>
          <a:bodyPr wrap="square" lIns="0" tIns="0" rIns="0" bIns="0" rtlCol="0" anchor="t"/>
          <a:lstStyle/>
          <a:p>
            <a:pPr indent="0" marL="0">
              <a:buNone/>
            </a:pPr>
            <a:r>
              <a:rPr lang="en-US" sz="1150" dirty="0">
                <a:solidFill>
                  <a:srgbClr val="6E6A63"/>
                </a:solidFill>
                <a:latin typeface="Calibri" pitchFamily="34" charset="0"/>
                <a:ea typeface="Calibri" pitchFamily="34" charset="-122"/>
                <a:cs typeface="Calibri" pitchFamily="34" charset="-120"/>
              </a:rPr>
              <a:t>member share capital contributed</a:t>
            </a:r>
            <a:endParaRPr lang="en-US" sz="1150" dirty="0"/>
          </a:p>
        </p:txBody>
      </p:sp>
      <p:sp>
        <p:nvSpPr>
          <p:cNvPr id="49" name="Shape 46"/>
          <p:cNvSpPr/>
          <p:nvPr/>
        </p:nvSpPr>
        <p:spPr>
          <a:xfrm>
            <a:off x="7863840" y="4617720"/>
            <a:ext cx="3657600" cy="960120"/>
          </a:xfrm>
          <a:prstGeom prst="roundRect">
            <a:avLst>
              <a:gd name="adj" fmla="val 9524"/>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50" name="Text 47"/>
          <p:cNvSpPr txBox="1"/>
          <p:nvPr/>
        </p:nvSpPr>
        <p:spPr>
          <a:xfrm>
            <a:off x="8092440" y="4727448"/>
            <a:ext cx="3200400" cy="457200"/>
          </a:xfrm>
          <a:prstGeom prst="rect">
            <a:avLst/>
          </a:prstGeom>
          <a:noFill/>
          <a:ln/>
        </p:spPr>
        <p:txBody>
          <a:bodyPr wrap="square" lIns="0" tIns="0" rIns="0" bIns="0" rtlCol="0" anchor="ctr"/>
          <a:lstStyle/>
          <a:p>
            <a:pPr indent="0" marL="0">
              <a:buNone/>
            </a:pPr>
            <a:r>
              <a:rPr lang="en-US" sz="2800" b="1" dirty="0">
                <a:solidFill>
                  <a:srgbClr val="245C36"/>
                </a:solidFill>
                <a:latin typeface="Cambria" pitchFamily="34" charset="0"/>
                <a:ea typeface="Cambria" pitchFamily="34" charset="-122"/>
                <a:cs typeface="Cambria" pitchFamily="34" charset="-120"/>
              </a:rPr>
              <a:t>₹10</a:t>
            </a:r>
            <a:endParaRPr lang="en-US" sz="2800" dirty="0"/>
          </a:p>
        </p:txBody>
      </p:sp>
      <p:sp>
        <p:nvSpPr>
          <p:cNvPr id="51" name="Text 48"/>
          <p:cNvSpPr txBox="1"/>
          <p:nvPr/>
        </p:nvSpPr>
        <p:spPr>
          <a:xfrm>
            <a:off x="8092440" y="5193792"/>
            <a:ext cx="3200400" cy="274320"/>
          </a:xfrm>
          <a:prstGeom prst="rect">
            <a:avLst/>
          </a:prstGeom>
          <a:noFill/>
          <a:ln/>
        </p:spPr>
        <p:txBody>
          <a:bodyPr wrap="square" lIns="0" tIns="0" rIns="0" bIns="0" rtlCol="0" anchor="t"/>
          <a:lstStyle/>
          <a:p>
            <a:pPr indent="0" marL="0">
              <a:buNone/>
            </a:pPr>
            <a:r>
              <a:rPr lang="en-US" sz="1150" dirty="0">
                <a:solidFill>
                  <a:srgbClr val="6E6A63"/>
                </a:solidFill>
                <a:latin typeface="Calibri" pitchFamily="34" charset="0"/>
                <a:ea typeface="Calibri" pitchFamily="34" charset="-122"/>
                <a:cs typeface="Calibri" pitchFamily="34" charset="-120"/>
              </a:rPr>
              <a:t>nominal value of one share</a:t>
            </a:r>
            <a:endParaRPr lang="en-US" sz="1150" dirty="0"/>
          </a:p>
        </p:txBody>
      </p:sp>
      <p:sp>
        <p:nvSpPr>
          <p:cNvPr id="52" name="Text 49"/>
          <p:cNvSpPr txBox="1"/>
          <p:nvPr/>
        </p:nvSpPr>
        <p:spPr>
          <a:xfrm>
            <a:off x="7863840" y="5806440"/>
            <a:ext cx="3657600" cy="502920"/>
          </a:xfrm>
          <a:prstGeom prst="rect">
            <a:avLst/>
          </a:prstGeom>
          <a:noFill/>
          <a:ln/>
        </p:spPr>
        <p:txBody>
          <a:bodyPr wrap="square" lIns="0" tIns="0" rIns="0" bIns="0" rtlCol="0" anchor="t"/>
          <a:lstStyle/>
          <a:p>
            <a:pPr indent="0" marL="0">
              <a:lnSpc>
                <a:spcPts val="1600"/>
              </a:lnSpc>
              <a:buNone/>
            </a:pPr>
            <a:r>
              <a:rPr lang="en-US" sz="1100" i="1" dirty="0">
                <a:solidFill>
                  <a:srgbClr val="6E6A63"/>
                </a:solidFill>
                <a:latin typeface="Calibri" pitchFamily="34" charset="0"/>
                <a:ea typeface="Calibri" pitchFamily="34" charset="-122"/>
                <a:cs typeface="Calibri" pitchFamily="34" charset="-120"/>
              </a:rPr>
              <a:t>Ten founding subscribers to the Memorandum hold 1,000 shares each, against an authorised capital of ₹1,00,000.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MEMBER BENEFITS</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Why farmers join</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Shape 2"/>
          <p:cNvSpPr/>
          <p:nvPr/>
        </p:nvSpPr>
        <p:spPr>
          <a:xfrm>
            <a:off x="640080" y="18288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6" name="Shape 3"/>
          <p:cNvSpPr/>
          <p:nvPr/>
        </p:nvSpPr>
        <p:spPr>
          <a:xfrm>
            <a:off x="896112" y="2084832"/>
            <a:ext cx="420624" cy="420624"/>
          </a:xfrm>
          <a:prstGeom prst="ellipse">
            <a:avLst/>
          </a:prstGeom>
          <a:solidFill>
            <a:srgbClr val="5C9A4F"/>
          </a:solidFill>
          <a:ln/>
        </p:spPr>
      </p:sp>
      <p:sp>
        <p:nvSpPr>
          <p:cNvPr id="7" name="Text 4"/>
          <p:cNvSpPr txBox="1"/>
          <p:nvPr/>
        </p:nvSpPr>
        <p:spPr>
          <a:xfrm>
            <a:off x="896112"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5"/>
          <p:cNvSpPr txBox="1"/>
          <p:nvPr/>
        </p:nvSpPr>
        <p:spPr>
          <a:xfrm>
            <a:off x="1463040" y="20574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Better prices</a:t>
            </a:r>
            <a:endParaRPr lang="en-US" sz="1600" dirty="0"/>
          </a:p>
        </p:txBody>
      </p:sp>
      <p:sp>
        <p:nvSpPr>
          <p:cNvPr id="9" name="Text 6"/>
          <p:cNvSpPr txBox="1"/>
          <p:nvPr/>
        </p:nvSpPr>
        <p:spPr>
          <a:xfrm>
            <a:off x="1463040" y="24140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Collective bargaining on pooled volume, instead of accepting a single buyer’s rate.</a:t>
            </a:r>
            <a:endParaRPr lang="en-US" sz="1300" dirty="0"/>
          </a:p>
        </p:txBody>
      </p:sp>
      <p:sp>
        <p:nvSpPr>
          <p:cNvPr id="10" name="Shape 7"/>
          <p:cNvSpPr/>
          <p:nvPr/>
        </p:nvSpPr>
        <p:spPr>
          <a:xfrm>
            <a:off x="4358640" y="18288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1" name="Shape 8"/>
          <p:cNvSpPr/>
          <p:nvPr/>
        </p:nvSpPr>
        <p:spPr>
          <a:xfrm>
            <a:off x="4614672" y="2084832"/>
            <a:ext cx="420624" cy="420624"/>
          </a:xfrm>
          <a:prstGeom prst="ellipse">
            <a:avLst/>
          </a:prstGeom>
          <a:solidFill>
            <a:srgbClr val="5C9A4F"/>
          </a:solidFill>
          <a:ln/>
        </p:spPr>
      </p:sp>
      <p:sp>
        <p:nvSpPr>
          <p:cNvPr id="12" name="Text 9"/>
          <p:cNvSpPr txBox="1"/>
          <p:nvPr/>
        </p:nvSpPr>
        <p:spPr>
          <a:xfrm>
            <a:off x="4614672"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5181600" y="20574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Cheaper inputs</a:t>
            </a:r>
            <a:endParaRPr lang="en-US" sz="1600" dirty="0"/>
          </a:p>
        </p:txBody>
      </p:sp>
      <p:sp>
        <p:nvSpPr>
          <p:cNvPr id="14" name="Text 11"/>
          <p:cNvSpPr txBox="1"/>
          <p:nvPr/>
        </p:nvSpPr>
        <p:spPr>
          <a:xfrm>
            <a:off x="5181600" y="24140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Seed, bio-inputs and equipment bought in bulk and passed through at cost.</a:t>
            </a:r>
            <a:endParaRPr lang="en-US" sz="1300" dirty="0"/>
          </a:p>
        </p:txBody>
      </p:sp>
      <p:sp>
        <p:nvSpPr>
          <p:cNvPr id="15" name="Shape 12"/>
          <p:cNvSpPr/>
          <p:nvPr/>
        </p:nvSpPr>
        <p:spPr>
          <a:xfrm>
            <a:off x="8077200" y="18288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6" name="Shape 13"/>
          <p:cNvSpPr/>
          <p:nvPr/>
        </p:nvSpPr>
        <p:spPr>
          <a:xfrm>
            <a:off x="8333232" y="2084832"/>
            <a:ext cx="420624" cy="420624"/>
          </a:xfrm>
          <a:prstGeom prst="ellipse">
            <a:avLst/>
          </a:prstGeom>
          <a:solidFill>
            <a:srgbClr val="5C9A4F"/>
          </a:solidFill>
          <a:ln/>
        </p:spPr>
      </p:sp>
      <p:sp>
        <p:nvSpPr>
          <p:cNvPr id="17" name="Text 14"/>
          <p:cNvSpPr txBox="1"/>
          <p:nvPr/>
        </p:nvSpPr>
        <p:spPr>
          <a:xfrm>
            <a:off x="8333232" y="20848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5"/>
          <p:cNvSpPr txBox="1"/>
          <p:nvPr/>
        </p:nvSpPr>
        <p:spPr>
          <a:xfrm>
            <a:off x="8900160" y="20574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Training &amp; support</a:t>
            </a:r>
            <a:endParaRPr lang="en-US" sz="1600" dirty="0"/>
          </a:p>
        </p:txBody>
      </p:sp>
      <p:sp>
        <p:nvSpPr>
          <p:cNvPr id="19" name="Text 16"/>
          <p:cNvSpPr txBox="1"/>
          <p:nvPr/>
        </p:nvSpPr>
        <p:spPr>
          <a:xfrm>
            <a:off x="8900160" y="24140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Shared knowledge on organic practice, soil health, seed selection and crop planning.</a:t>
            </a:r>
            <a:endParaRPr lang="en-US" sz="1300" dirty="0"/>
          </a:p>
        </p:txBody>
      </p:sp>
      <p:sp>
        <p:nvSpPr>
          <p:cNvPr id="20" name="Shape 17"/>
          <p:cNvSpPr/>
          <p:nvPr/>
        </p:nvSpPr>
        <p:spPr>
          <a:xfrm>
            <a:off x="640080" y="38862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1" name="Shape 18"/>
          <p:cNvSpPr/>
          <p:nvPr/>
        </p:nvSpPr>
        <p:spPr>
          <a:xfrm>
            <a:off x="896112" y="4142232"/>
            <a:ext cx="420624" cy="420624"/>
          </a:xfrm>
          <a:prstGeom prst="ellipse">
            <a:avLst/>
          </a:prstGeom>
          <a:solidFill>
            <a:srgbClr val="5C9A4F"/>
          </a:solidFill>
          <a:ln/>
        </p:spPr>
      </p:sp>
      <p:sp>
        <p:nvSpPr>
          <p:cNvPr id="22" name="Text 19"/>
          <p:cNvSpPr txBox="1"/>
          <p:nvPr/>
        </p:nvSpPr>
        <p:spPr>
          <a:xfrm>
            <a:off x="896112" y="41422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0"/>
          <p:cNvSpPr txBox="1"/>
          <p:nvPr/>
        </p:nvSpPr>
        <p:spPr>
          <a:xfrm>
            <a:off x="1463040" y="41148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Government schemes</a:t>
            </a:r>
            <a:endParaRPr lang="en-US" sz="1600" dirty="0"/>
          </a:p>
        </p:txBody>
      </p:sp>
      <p:sp>
        <p:nvSpPr>
          <p:cNvPr id="24" name="Text 21"/>
          <p:cNvSpPr txBox="1"/>
          <p:nvPr/>
        </p:nvSpPr>
        <p:spPr>
          <a:xfrm>
            <a:off x="1463040" y="44714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A registered company can access FPO support, subsidies and institutional credit.</a:t>
            </a:r>
            <a:endParaRPr lang="en-US" sz="1300" dirty="0"/>
          </a:p>
        </p:txBody>
      </p:sp>
      <p:sp>
        <p:nvSpPr>
          <p:cNvPr id="25" name="Shape 22"/>
          <p:cNvSpPr/>
          <p:nvPr/>
        </p:nvSpPr>
        <p:spPr>
          <a:xfrm>
            <a:off x="4358640" y="38862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6" name="Shape 23"/>
          <p:cNvSpPr/>
          <p:nvPr/>
        </p:nvSpPr>
        <p:spPr>
          <a:xfrm>
            <a:off x="4614672" y="4142232"/>
            <a:ext cx="420624" cy="420624"/>
          </a:xfrm>
          <a:prstGeom prst="ellipse">
            <a:avLst/>
          </a:prstGeom>
          <a:solidFill>
            <a:srgbClr val="5C9A4F"/>
          </a:solidFill>
          <a:ln/>
        </p:spPr>
      </p:sp>
      <p:sp>
        <p:nvSpPr>
          <p:cNvPr id="27" name="Text 24"/>
          <p:cNvSpPr txBox="1"/>
          <p:nvPr/>
        </p:nvSpPr>
        <p:spPr>
          <a:xfrm>
            <a:off x="4614672" y="41422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8" name="Text 25"/>
          <p:cNvSpPr txBox="1"/>
          <p:nvPr/>
        </p:nvSpPr>
        <p:spPr>
          <a:xfrm>
            <a:off x="5181600" y="41148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Shared infrastructure</a:t>
            </a:r>
            <a:endParaRPr lang="en-US" sz="1600" dirty="0"/>
          </a:p>
        </p:txBody>
      </p:sp>
      <p:sp>
        <p:nvSpPr>
          <p:cNvPr id="29" name="Text 26"/>
          <p:cNvSpPr txBox="1"/>
          <p:nvPr/>
        </p:nvSpPr>
        <p:spPr>
          <a:xfrm>
            <a:off x="5181600" y="44714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Cleaning, grading, storage and packing that no single smallholder could fund alone.</a:t>
            </a:r>
            <a:endParaRPr lang="en-US" sz="1300" dirty="0"/>
          </a:p>
        </p:txBody>
      </p:sp>
      <p:sp>
        <p:nvSpPr>
          <p:cNvPr id="30" name="Shape 27"/>
          <p:cNvSpPr/>
          <p:nvPr/>
        </p:nvSpPr>
        <p:spPr>
          <a:xfrm>
            <a:off x="8077200" y="3886200"/>
            <a:ext cx="3444240" cy="1691640"/>
          </a:xfrm>
          <a:prstGeom prst="roundRect">
            <a:avLst>
              <a:gd name="adj" fmla="val 5405"/>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31" name="Shape 28"/>
          <p:cNvSpPr/>
          <p:nvPr/>
        </p:nvSpPr>
        <p:spPr>
          <a:xfrm>
            <a:off x="8333232" y="4142232"/>
            <a:ext cx="420624" cy="420624"/>
          </a:xfrm>
          <a:prstGeom prst="ellipse">
            <a:avLst/>
          </a:prstGeom>
          <a:solidFill>
            <a:srgbClr val="5C9A4F"/>
          </a:solidFill>
          <a:ln/>
        </p:spPr>
      </p:sp>
      <p:sp>
        <p:nvSpPr>
          <p:cNvPr id="32" name="Text 29"/>
          <p:cNvSpPr txBox="1"/>
          <p:nvPr/>
        </p:nvSpPr>
        <p:spPr>
          <a:xfrm>
            <a:off x="8333232" y="41422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3" name="Text 30"/>
          <p:cNvSpPr txBox="1"/>
          <p:nvPr/>
        </p:nvSpPr>
        <p:spPr>
          <a:xfrm>
            <a:off x="8900160" y="4114800"/>
            <a:ext cx="2365248" cy="329184"/>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Ownership &amp; voice</a:t>
            </a:r>
            <a:endParaRPr lang="en-US" sz="1600" dirty="0"/>
          </a:p>
        </p:txBody>
      </p:sp>
      <p:sp>
        <p:nvSpPr>
          <p:cNvPr id="34" name="Text 31"/>
          <p:cNvSpPr txBox="1"/>
          <p:nvPr/>
        </p:nvSpPr>
        <p:spPr>
          <a:xfrm>
            <a:off x="8900160" y="4471416"/>
            <a:ext cx="2365248" cy="905256"/>
          </a:xfrm>
          <a:prstGeom prst="rect">
            <a:avLst/>
          </a:prstGeom>
          <a:noFill/>
          <a:ln/>
        </p:spPr>
        <p:txBody>
          <a:bodyPr wrap="square" lIns="0" tIns="0" rIns="0" bIns="0" rtlCol="0" anchor="t"/>
          <a:lstStyle/>
          <a:p>
            <a:pPr indent="0" marL="0">
              <a:lnSpc>
                <a:spcPts val="1800"/>
              </a:lnSpc>
              <a:buNone/>
            </a:pPr>
            <a:r>
              <a:rPr lang="en-US" sz="1300" dirty="0">
                <a:solidFill>
                  <a:srgbClr val="211C16"/>
                </a:solidFill>
                <a:latin typeface="Calibri" pitchFamily="34" charset="0"/>
                <a:ea typeface="Calibri" pitchFamily="34" charset="-122"/>
                <a:cs typeface="Calibri" pitchFamily="34" charset="-120"/>
              </a:rPr>
              <a:t>Members are shareholders — they vote on decisions and share in the surplus.</a:t>
            </a:r>
            <a:endParaRPr lang="en-US" sz="1300" dirty="0"/>
          </a:p>
        </p:txBody>
      </p:sp>
      <p:sp>
        <p:nvSpPr>
          <p:cNvPr id="35" name="Text 32"/>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6A63"/>
                </a:solidFill>
                <a:latin typeface="Calibri" pitchFamily="34" charset="0"/>
                <a:ea typeface="Calibri" pitchFamily="34" charset="-122"/>
                <a:cs typeface="Calibri" pitchFamily="34" charset="-120"/>
              </a:rPr>
              <a:t>Membership is open to primary producers in and around our operating villages.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WHO RUNS IT</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Governance &amp; leadership</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81328"/>
            <a:ext cx="9509760" cy="365760"/>
          </a:xfrm>
          <a:prstGeom prst="rect">
            <a:avLst/>
          </a:prstGeom>
          <a:noFill/>
          <a:ln/>
        </p:spPr>
        <p:txBody>
          <a:bodyPr wrap="square" lIns="0" tIns="0" rIns="0" bIns="0" rtlCol="0" anchor="t"/>
          <a:lstStyle/>
          <a:p>
            <a:pPr indent="0" marL="0">
              <a:buNone/>
            </a:pPr>
            <a:r>
              <a:rPr lang="en-US" sz="1450" dirty="0">
                <a:solidFill>
                  <a:srgbClr val="211C16"/>
                </a:solidFill>
                <a:latin typeface="Calibri" pitchFamily="34" charset="0"/>
                <a:ea typeface="Calibri" pitchFamily="34" charset="-122"/>
                <a:cs typeface="Calibri" pitchFamily="34" charset="-120"/>
              </a:rPr>
              <a:t>Five promoter-directors, all farmer-members, appointed on incorporation — 8 April 2026.</a:t>
            </a:r>
            <a:endParaRPr lang="en-US" sz="1450" dirty="0"/>
          </a:p>
        </p:txBody>
      </p:sp>
      <p:sp>
        <p:nvSpPr>
          <p:cNvPr id="6" name="Shape 3"/>
          <p:cNvSpPr/>
          <p:nvPr/>
        </p:nvSpPr>
        <p:spPr>
          <a:xfrm>
            <a:off x="640080" y="2011680"/>
            <a:ext cx="1214323" cy="1517904"/>
          </a:xfrm>
          <a:prstGeom prst="roundRect">
            <a:avLst>
              <a:gd name="adj" fmla="val 7530"/>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7" name="Shape 4"/>
          <p:cNvSpPr/>
          <p:nvPr/>
        </p:nvSpPr>
        <p:spPr>
          <a:xfrm>
            <a:off x="1036930" y="2194560"/>
            <a:ext cx="420624" cy="420624"/>
          </a:xfrm>
          <a:prstGeom prst="ellipse">
            <a:avLst/>
          </a:prstGeom>
          <a:solidFill>
            <a:srgbClr val="5C9A4F"/>
          </a:solidFill>
          <a:ln/>
        </p:spPr>
      </p:sp>
      <p:sp>
        <p:nvSpPr>
          <p:cNvPr id="8" name="Text 5"/>
          <p:cNvSpPr txBox="1"/>
          <p:nvPr/>
        </p:nvSpPr>
        <p:spPr>
          <a:xfrm>
            <a:off x="1036930" y="21945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9" name="Text 6"/>
          <p:cNvSpPr txBox="1"/>
          <p:nvPr/>
        </p:nvSpPr>
        <p:spPr>
          <a:xfrm>
            <a:off x="713232" y="2697480"/>
            <a:ext cx="1068019" cy="548640"/>
          </a:xfrm>
          <a:prstGeom prst="rect">
            <a:avLst/>
          </a:prstGeom>
          <a:noFill/>
          <a:ln/>
        </p:spPr>
        <p:txBody>
          <a:bodyPr wrap="square" lIns="0" tIns="0" rIns="0" bIns="0" rtlCol="0" anchor="t"/>
          <a:lstStyle/>
          <a:p>
            <a:pPr algn="ctr" indent="0" marL="0">
              <a:buNone/>
            </a:pPr>
            <a:r>
              <a:rPr lang="en-US" sz="1200" b="1" dirty="0">
                <a:solidFill>
                  <a:srgbClr val="245C36"/>
                </a:solidFill>
                <a:latin typeface="Calibri" pitchFamily="34" charset="0"/>
                <a:ea typeface="Calibri" pitchFamily="34" charset="-122"/>
                <a:cs typeface="Calibri" pitchFamily="34" charset="-120"/>
              </a:rPr>
              <a:t>Dharampal</a:t>
            </a:r>
            <a:endParaRPr lang="en-US" sz="1200" dirty="0"/>
          </a:p>
        </p:txBody>
      </p:sp>
      <p:sp>
        <p:nvSpPr>
          <p:cNvPr id="10" name="Text 7"/>
          <p:cNvSpPr txBox="1"/>
          <p:nvPr/>
        </p:nvSpPr>
        <p:spPr>
          <a:xfrm>
            <a:off x="713232" y="3255264"/>
            <a:ext cx="1068019" cy="219456"/>
          </a:xfrm>
          <a:prstGeom prst="rect">
            <a:avLst/>
          </a:prstGeom>
          <a:noFill/>
          <a:ln/>
        </p:spPr>
        <p:txBody>
          <a:bodyPr wrap="square" lIns="0" tIns="0" rIns="0" bIns="0" rtlCol="0" anchor="ctr"/>
          <a:lstStyle/>
          <a:p>
            <a:pPr algn="ctr" indent="0" marL="0">
              <a:buNone/>
            </a:pPr>
            <a:r>
              <a:rPr lang="en-US" sz="1000" dirty="0">
                <a:solidFill>
                  <a:srgbClr val="6E6A63"/>
                </a:solidFill>
                <a:latin typeface="Calibri" pitchFamily="34" charset="0"/>
                <a:ea typeface="Calibri" pitchFamily="34" charset="-122"/>
                <a:cs typeface="Calibri" pitchFamily="34" charset="-120"/>
              </a:rPr>
              <a:t>Director</a:t>
            </a:r>
            <a:endParaRPr lang="en-US" sz="1000" dirty="0"/>
          </a:p>
        </p:txBody>
      </p:sp>
      <p:sp>
        <p:nvSpPr>
          <p:cNvPr id="11" name="Shape 8"/>
          <p:cNvSpPr/>
          <p:nvPr/>
        </p:nvSpPr>
        <p:spPr>
          <a:xfrm>
            <a:off x="2073859" y="2011680"/>
            <a:ext cx="1214323" cy="1517904"/>
          </a:xfrm>
          <a:prstGeom prst="roundRect">
            <a:avLst>
              <a:gd name="adj" fmla="val 7530"/>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2" name="Shape 9"/>
          <p:cNvSpPr/>
          <p:nvPr/>
        </p:nvSpPr>
        <p:spPr>
          <a:xfrm>
            <a:off x="2470709" y="2194560"/>
            <a:ext cx="420624" cy="420624"/>
          </a:xfrm>
          <a:prstGeom prst="ellipse">
            <a:avLst/>
          </a:prstGeom>
          <a:solidFill>
            <a:srgbClr val="5C9A4F"/>
          </a:solidFill>
          <a:ln/>
        </p:spPr>
      </p:sp>
      <p:sp>
        <p:nvSpPr>
          <p:cNvPr id="13" name="Text 10"/>
          <p:cNvSpPr txBox="1"/>
          <p:nvPr/>
        </p:nvSpPr>
        <p:spPr>
          <a:xfrm>
            <a:off x="2470709" y="21945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14" name="Text 11"/>
          <p:cNvSpPr txBox="1"/>
          <p:nvPr/>
        </p:nvSpPr>
        <p:spPr>
          <a:xfrm>
            <a:off x="2147011" y="2697480"/>
            <a:ext cx="1068019" cy="548640"/>
          </a:xfrm>
          <a:prstGeom prst="rect">
            <a:avLst/>
          </a:prstGeom>
          <a:noFill/>
          <a:ln/>
        </p:spPr>
        <p:txBody>
          <a:bodyPr wrap="square" lIns="0" tIns="0" rIns="0" bIns="0" rtlCol="0" anchor="t"/>
          <a:lstStyle/>
          <a:p>
            <a:pPr algn="ctr" indent="0" marL="0">
              <a:buNone/>
            </a:pPr>
            <a:r>
              <a:rPr lang="en-US" sz="1200" b="1" dirty="0">
                <a:solidFill>
                  <a:srgbClr val="245C36"/>
                </a:solidFill>
                <a:latin typeface="Calibri" pitchFamily="34" charset="0"/>
                <a:ea typeface="Calibri" pitchFamily="34" charset="-122"/>
                <a:cs typeface="Calibri" pitchFamily="34" charset="-120"/>
              </a:rPr>
              <a:t>Makarandh</a:t>
            </a:r>
            <a:endParaRPr lang="en-US" sz="1200" dirty="0"/>
          </a:p>
        </p:txBody>
      </p:sp>
      <p:sp>
        <p:nvSpPr>
          <p:cNvPr id="15" name="Text 12"/>
          <p:cNvSpPr txBox="1"/>
          <p:nvPr/>
        </p:nvSpPr>
        <p:spPr>
          <a:xfrm>
            <a:off x="2147011" y="3255264"/>
            <a:ext cx="1068019" cy="219456"/>
          </a:xfrm>
          <a:prstGeom prst="rect">
            <a:avLst/>
          </a:prstGeom>
          <a:noFill/>
          <a:ln/>
        </p:spPr>
        <p:txBody>
          <a:bodyPr wrap="square" lIns="0" tIns="0" rIns="0" bIns="0" rtlCol="0" anchor="ctr"/>
          <a:lstStyle/>
          <a:p>
            <a:pPr algn="ctr" indent="0" marL="0">
              <a:buNone/>
            </a:pPr>
            <a:r>
              <a:rPr lang="en-US" sz="1000" dirty="0">
                <a:solidFill>
                  <a:srgbClr val="6E6A63"/>
                </a:solidFill>
                <a:latin typeface="Calibri" pitchFamily="34" charset="0"/>
                <a:ea typeface="Calibri" pitchFamily="34" charset="-122"/>
                <a:cs typeface="Calibri" pitchFamily="34" charset="-120"/>
              </a:rPr>
              <a:t>Director</a:t>
            </a:r>
            <a:endParaRPr lang="en-US" sz="1000" dirty="0"/>
          </a:p>
        </p:txBody>
      </p:sp>
      <p:sp>
        <p:nvSpPr>
          <p:cNvPr id="16" name="Shape 13"/>
          <p:cNvSpPr/>
          <p:nvPr/>
        </p:nvSpPr>
        <p:spPr>
          <a:xfrm>
            <a:off x="3507638" y="2011680"/>
            <a:ext cx="1214323" cy="1517904"/>
          </a:xfrm>
          <a:prstGeom prst="roundRect">
            <a:avLst>
              <a:gd name="adj" fmla="val 7530"/>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7" name="Shape 14"/>
          <p:cNvSpPr/>
          <p:nvPr/>
        </p:nvSpPr>
        <p:spPr>
          <a:xfrm>
            <a:off x="3904488" y="2194560"/>
            <a:ext cx="420624" cy="420624"/>
          </a:xfrm>
          <a:prstGeom prst="ellipse">
            <a:avLst/>
          </a:prstGeom>
          <a:solidFill>
            <a:srgbClr val="5C9A4F"/>
          </a:solidFill>
          <a:ln/>
        </p:spPr>
      </p:sp>
      <p:sp>
        <p:nvSpPr>
          <p:cNvPr id="18" name="Text 15"/>
          <p:cNvSpPr txBox="1"/>
          <p:nvPr/>
        </p:nvSpPr>
        <p:spPr>
          <a:xfrm>
            <a:off x="3904488" y="21945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9" name="Text 16"/>
          <p:cNvSpPr txBox="1"/>
          <p:nvPr/>
        </p:nvSpPr>
        <p:spPr>
          <a:xfrm>
            <a:off x="3580790" y="2697480"/>
            <a:ext cx="1068019" cy="548640"/>
          </a:xfrm>
          <a:prstGeom prst="rect">
            <a:avLst/>
          </a:prstGeom>
          <a:noFill/>
          <a:ln/>
        </p:spPr>
        <p:txBody>
          <a:bodyPr wrap="square" lIns="0" tIns="0" rIns="0" bIns="0" rtlCol="0" anchor="t"/>
          <a:lstStyle/>
          <a:p>
            <a:pPr algn="ctr" indent="0" marL="0">
              <a:buNone/>
            </a:pPr>
            <a:r>
              <a:rPr lang="en-US" sz="1200" b="1" dirty="0">
                <a:solidFill>
                  <a:srgbClr val="245C36"/>
                </a:solidFill>
                <a:latin typeface="Calibri" pitchFamily="34" charset="0"/>
                <a:ea typeface="Calibri" pitchFamily="34" charset="-122"/>
                <a:cs typeface="Calibri" pitchFamily="34" charset="-120"/>
              </a:rPr>
              <a:t>Santosh</a:t>
            </a:r>
            <a:endParaRPr lang="en-US" sz="1200" dirty="0"/>
          </a:p>
        </p:txBody>
      </p:sp>
      <p:sp>
        <p:nvSpPr>
          <p:cNvPr id="20" name="Text 17"/>
          <p:cNvSpPr txBox="1"/>
          <p:nvPr/>
        </p:nvSpPr>
        <p:spPr>
          <a:xfrm>
            <a:off x="3580790" y="3255264"/>
            <a:ext cx="1068019" cy="219456"/>
          </a:xfrm>
          <a:prstGeom prst="rect">
            <a:avLst/>
          </a:prstGeom>
          <a:noFill/>
          <a:ln/>
        </p:spPr>
        <p:txBody>
          <a:bodyPr wrap="square" lIns="0" tIns="0" rIns="0" bIns="0" rtlCol="0" anchor="ctr"/>
          <a:lstStyle/>
          <a:p>
            <a:pPr algn="ctr" indent="0" marL="0">
              <a:buNone/>
            </a:pPr>
            <a:r>
              <a:rPr lang="en-US" sz="1000" dirty="0">
                <a:solidFill>
                  <a:srgbClr val="6E6A63"/>
                </a:solidFill>
                <a:latin typeface="Calibri" pitchFamily="34" charset="0"/>
                <a:ea typeface="Calibri" pitchFamily="34" charset="-122"/>
                <a:cs typeface="Calibri" pitchFamily="34" charset="-120"/>
              </a:rPr>
              <a:t>Director</a:t>
            </a:r>
            <a:endParaRPr lang="en-US" sz="1000" dirty="0"/>
          </a:p>
        </p:txBody>
      </p:sp>
      <p:sp>
        <p:nvSpPr>
          <p:cNvPr id="21" name="Shape 18"/>
          <p:cNvSpPr/>
          <p:nvPr/>
        </p:nvSpPr>
        <p:spPr>
          <a:xfrm>
            <a:off x="4941418" y="2011680"/>
            <a:ext cx="1214323" cy="1517904"/>
          </a:xfrm>
          <a:prstGeom prst="roundRect">
            <a:avLst>
              <a:gd name="adj" fmla="val 7530"/>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2" name="Shape 19"/>
          <p:cNvSpPr/>
          <p:nvPr/>
        </p:nvSpPr>
        <p:spPr>
          <a:xfrm>
            <a:off x="5338267" y="2194560"/>
            <a:ext cx="420624" cy="420624"/>
          </a:xfrm>
          <a:prstGeom prst="ellipse">
            <a:avLst/>
          </a:prstGeom>
          <a:solidFill>
            <a:srgbClr val="5C9A4F"/>
          </a:solidFill>
          <a:ln/>
        </p:spPr>
      </p:sp>
      <p:sp>
        <p:nvSpPr>
          <p:cNvPr id="23" name="Text 20"/>
          <p:cNvSpPr txBox="1"/>
          <p:nvPr/>
        </p:nvSpPr>
        <p:spPr>
          <a:xfrm>
            <a:off x="5338267" y="21945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a:t>
            </a:r>
            <a:endParaRPr lang="en-US" sz="1600" dirty="0"/>
          </a:p>
        </p:txBody>
      </p:sp>
      <p:sp>
        <p:nvSpPr>
          <p:cNvPr id="24" name="Text 21"/>
          <p:cNvSpPr txBox="1"/>
          <p:nvPr/>
        </p:nvSpPr>
        <p:spPr>
          <a:xfrm>
            <a:off x="5014570" y="2697480"/>
            <a:ext cx="1068019" cy="548640"/>
          </a:xfrm>
          <a:prstGeom prst="rect">
            <a:avLst/>
          </a:prstGeom>
          <a:noFill/>
          <a:ln/>
        </p:spPr>
        <p:txBody>
          <a:bodyPr wrap="square" lIns="0" tIns="0" rIns="0" bIns="0" rtlCol="0" anchor="t"/>
          <a:lstStyle/>
          <a:p>
            <a:pPr algn="ctr" indent="0" marL="0">
              <a:buNone/>
            </a:pPr>
            <a:r>
              <a:rPr lang="en-US" sz="1200" b="1" dirty="0">
                <a:solidFill>
                  <a:srgbClr val="245C36"/>
                </a:solidFill>
                <a:latin typeface="Calibri" pitchFamily="34" charset="0"/>
                <a:ea typeface="Calibri" pitchFamily="34" charset="-122"/>
                <a:cs typeface="Calibri" pitchFamily="34" charset="-120"/>
              </a:rPr>
              <a:t>Vikhyat Kumar Yadav</a:t>
            </a:r>
            <a:endParaRPr lang="en-US" sz="1200" dirty="0"/>
          </a:p>
        </p:txBody>
      </p:sp>
      <p:sp>
        <p:nvSpPr>
          <p:cNvPr id="25" name="Text 22"/>
          <p:cNvSpPr txBox="1"/>
          <p:nvPr/>
        </p:nvSpPr>
        <p:spPr>
          <a:xfrm>
            <a:off x="5014570" y="3255264"/>
            <a:ext cx="1068019" cy="219456"/>
          </a:xfrm>
          <a:prstGeom prst="rect">
            <a:avLst/>
          </a:prstGeom>
          <a:noFill/>
          <a:ln/>
        </p:spPr>
        <p:txBody>
          <a:bodyPr wrap="square" lIns="0" tIns="0" rIns="0" bIns="0" rtlCol="0" anchor="ctr"/>
          <a:lstStyle/>
          <a:p>
            <a:pPr algn="ctr" indent="0" marL="0">
              <a:buNone/>
            </a:pPr>
            <a:r>
              <a:rPr lang="en-US" sz="1000" dirty="0">
                <a:solidFill>
                  <a:srgbClr val="6E6A63"/>
                </a:solidFill>
                <a:latin typeface="Calibri" pitchFamily="34" charset="0"/>
                <a:ea typeface="Calibri" pitchFamily="34" charset="-122"/>
                <a:cs typeface="Calibri" pitchFamily="34" charset="-120"/>
              </a:rPr>
              <a:t>Director</a:t>
            </a:r>
            <a:endParaRPr lang="en-US" sz="1000" dirty="0"/>
          </a:p>
        </p:txBody>
      </p:sp>
      <p:sp>
        <p:nvSpPr>
          <p:cNvPr id="26" name="Shape 23"/>
          <p:cNvSpPr/>
          <p:nvPr/>
        </p:nvSpPr>
        <p:spPr>
          <a:xfrm>
            <a:off x="6375197" y="2011680"/>
            <a:ext cx="1214323" cy="1517904"/>
          </a:xfrm>
          <a:prstGeom prst="roundRect">
            <a:avLst>
              <a:gd name="adj" fmla="val 7530"/>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27" name="Shape 24"/>
          <p:cNvSpPr/>
          <p:nvPr/>
        </p:nvSpPr>
        <p:spPr>
          <a:xfrm>
            <a:off x="6772046" y="2194560"/>
            <a:ext cx="420624" cy="420624"/>
          </a:xfrm>
          <a:prstGeom prst="ellipse">
            <a:avLst/>
          </a:prstGeom>
          <a:solidFill>
            <a:srgbClr val="5C9A4F"/>
          </a:solidFill>
          <a:ln/>
        </p:spPr>
      </p:sp>
      <p:sp>
        <p:nvSpPr>
          <p:cNvPr id="28" name="Text 25"/>
          <p:cNvSpPr txBox="1"/>
          <p:nvPr/>
        </p:nvSpPr>
        <p:spPr>
          <a:xfrm>
            <a:off x="6772046" y="21945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29" name="Text 26"/>
          <p:cNvSpPr txBox="1"/>
          <p:nvPr/>
        </p:nvSpPr>
        <p:spPr>
          <a:xfrm>
            <a:off x="6448349" y="2697480"/>
            <a:ext cx="1068019" cy="548640"/>
          </a:xfrm>
          <a:prstGeom prst="rect">
            <a:avLst/>
          </a:prstGeom>
          <a:noFill/>
          <a:ln/>
        </p:spPr>
        <p:txBody>
          <a:bodyPr wrap="square" lIns="0" tIns="0" rIns="0" bIns="0" rtlCol="0" anchor="t"/>
          <a:lstStyle/>
          <a:p>
            <a:pPr algn="ctr" indent="0" marL="0">
              <a:buNone/>
            </a:pPr>
            <a:r>
              <a:rPr lang="en-US" sz="1200" b="1" dirty="0">
                <a:solidFill>
                  <a:srgbClr val="245C36"/>
                </a:solidFill>
                <a:latin typeface="Calibri" pitchFamily="34" charset="0"/>
                <a:ea typeface="Calibri" pitchFamily="34" charset="-122"/>
                <a:cs typeface="Calibri" pitchFamily="34" charset="-120"/>
              </a:rPr>
              <a:t>Ashok Kumar</a:t>
            </a:r>
            <a:endParaRPr lang="en-US" sz="1200" dirty="0"/>
          </a:p>
        </p:txBody>
      </p:sp>
      <p:sp>
        <p:nvSpPr>
          <p:cNvPr id="30" name="Text 27"/>
          <p:cNvSpPr txBox="1"/>
          <p:nvPr/>
        </p:nvSpPr>
        <p:spPr>
          <a:xfrm>
            <a:off x="6448349" y="3255264"/>
            <a:ext cx="1068019" cy="219456"/>
          </a:xfrm>
          <a:prstGeom prst="rect">
            <a:avLst/>
          </a:prstGeom>
          <a:noFill/>
          <a:ln/>
        </p:spPr>
        <p:txBody>
          <a:bodyPr wrap="square" lIns="0" tIns="0" rIns="0" bIns="0" rtlCol="0" anchor="ctr"/>
          <a:lstStyle/>
          <a:p>
            <a:pPr algn="ctr" indent="0" marL="0">
              <a:buNone/>
            </a:pPr>
            <a:r>
              <a:rPr lang="en-US" sz="1000" dirty="0">
                <a:solidFill>
                  <a:srgbClr val="6E6A63"/>
                </a:solidFill>
                <a:latin typeface="Calibri" pitchFamily="34" charset="0"/>
                <a:ea typeface="Calibri" pitchFamily="34" charset="-122"/>
                <a:cs typeface="Calibri" pitchFamily="34" charset="-120"/>
              </a:rPr>
              <a:t>Director</a:t>
            </a:r>
            <a:endParaRPr lang="en-US" sz="1000" dirty="0"/>
          </a:p>
        </p:txBody>
      </p:sp>
      <p:sp>
        <p:nvSpPr>
          <p:cNvPr id="31" name="Text 28"/>
          <p:cNvSpPr txBox="1"/>
          <p:nvPr/>
        </p:nvSpPr>
        <p:spPr>
          <a:xfrm>
            <a:off x="640080" y="3803904"/>
            <a:ext cx="6949440" cy="365760"/>
          </a:xfrm>
          <a:prstGeom prst="rect">
            <a:avLst/>
          </a:prstGeom>
          <a:noFill/>
          <a:ln/>
        </p:spPr>
        <p:txBody>
          <a:bodyPr wrap="square" lIns="0" tIns="0" rIns="0" bIns="0" rtlCol="0" anchor="t"/>
          <a:lstStyle/>
          <a:p>
            <a:pPr indent="0" marL="0">
              <a:buNone/>
            </a:pPr>
            <a:r>
              <a:rPr lang="en-US" sz="2000" b="1" dirty="0">
                <a:solidFill>
                  <a:srgbClr val="245C36"/>
                </a:solidFill>
                <a:latin typeface="Cambria" pitchFamily="34" charset="0"/>
                <a:ea typeface="Cambria" pitchFamily="34" charset="-122"/>
                <a:cs typeface="Cambria" pitchFamily="34" charset="-120"/>
              </a:rPr>
              <a:t>Who to contact</a:t>
            </a:r>
            <a:endParaRPr lang="en-US" sz="2000" dirty="0"/>
          </a:p>
        </p:txBody>
      </p:sp>
      <p:sp>
        <p:nvSpPr>
          <p:cNvPr id="32" name="Shape 29"/>
          <p:cNvSpPr/>
          <p:nvPr/>
        </p:nvSpPr>
        <p:spPr>
          <a:xfrm>
            <a:off x="640080" y="4297680"/>
            <a:ext cx="3474720" cy="1234440"/>
          </a:xfrm>
          <a:prstGeom prst="roundRect">
            <a:avLst>
              <a:gd name="adj" fmla="val 7407"/>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33" name="Text 30"/>
          <p:cNvSpPr txBox="1"/>
          <p:nvPr/>
        </p:nvSpPr>
        <p:spPr>
          <a:xfrm>
            <a:off x="877824" y="4443984"/>
            <a:ext cx="3017520" cy="310896"/>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Vikhyat Kumar Yadav</a:t>
            </a:r>
            <a:endParaRPr lang="en-US" sz="1600" dirty="0"/>
          </a:p>
        </p:txBody>
      </p:sp>
      <p:sp>
        <p:nvSpPr>
          <p:cNvPr id="34" name="Text 31"/>
          <p:cNvSpPr txBox="1"/>
          <p:nvPr/>
        </p:nvSpPr>
        <p:spPr>
          <a:xfrm>
            <a:off x="877824" y="4754880"/>
            <a:ext cx="3017520" cy="256032"/>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Executive Director</a:t>
            </a:r>
            <a:endParaRPr lang="en-US" sz="1150" dirty="0"/>
          </a:p>
        </p:txBody>
      </p:sp>
      <p:sp>
        <p:nvSpPr>
          <p:cNvPr id="35" name="Text 32"/>
          <p:cNvSpPr txBox="1"/>
          <p:nvPr/>
        </p:nvSpPr>
        <p:spPr>
          <a:xfrm>
            <a:off x="877824" y="5047488"/>
            <a:ext cx="3017520" cy="274320"/>
          </a:xfrm>
          <a:prstGeom prst="rect">
            <a:avLst/>
          </a:prstGeom>
          <a:noFill/>
          <a:ln/>
        </p:spPr>
        <p:txBody>
          <a:bodyPr wrap="square" lIns="0" tIns="0" rIns="0" bIns="0" rtlCol="0" anchor="ctr"/>
          <a:lstStyle/>
          <a:p>
            <a:pPr indent="0" marL="0">
              <a:buNone/>
            </a:pPr>
            <a:r>
              <a:rPr lang="en-US" sz="1400" b="1" dirty="0">
                <a:solidFill>
                  <a:srgbClr val="6B4A2B"/>
                </a:solidFill>
                <a:latin typeface="Calibri" pitchFamily="34" charset="0"/>
                <a:ea typeface="Calibri" pitchFamily="34" charset="-122"/>
                <a:cs typeface="Calibri" pitchFamily="34" charset="-120"/>
              </a:rPr>
              <a:t>+91 94544 56072</a:t>
            </a:r>
            <a:endParaRPr lang="en-US" sz="1400" dirty="0"/>
          </a:p>
        </p:txBody>
      </p:sp>
      <p:sp>
        <p:nvSpPr>
          <p:cNvPr id="36" name="Shape 33"/>
          <p:cNvSpPr/>
          <p:nvPr/>
        </p:nvSpPr>
        <p:spPr>
          <a:xfrm>
            <a:off x="4297680" y="4297680"/>
            <a:ext cx="3474720" cy="1234440"/>
          </a:xfrm>
          <a:prstGeom prst="roundRect">
            <a:avLst>
              <a:gd name="adj" fmla="val 7407"/>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37" name="Text 34"/>
          <p:cNvSpPr txBox="1"/>
          <p:nvPr/>
        </p:nvSpPr>
        <p:spPr>
          <a:xfrm>
            <a:off x="4535424" y="4443984"/>
            <a:ext cx="3017520" cy="310896"/>
          </a:xfrm>
          <a:prstGeom prst="rect">
            <a:avLst/>
          </a:prstGeom>
          <a:noFill/>
          <a:ln/>
        </p:spPr>
        <p:txBody>
          <a:bodyPr wrap="square" lIns="0" tIns="0" rIns="0" bIns="0" rtlCol="0" anchor="t"/>
          <a:lstStyle/>
          <a:p>
            <a:pPr indent="0" marL="0">
              <a:buNone/>
            </a:pPr>
            <a:r>
              <a:rPr lang="en-US" sz="1600" b="1" dirty="0">
                <a:solidFill>
                  <a:srgbClr val="245C36"/>
                </a:solidFill>
                <a:latin typeface="Cambria" pitchFamily="34" charset="0"/>
                <a:ea typeface="Cambria" pitchFamily="34" charset="-122"/>
                <a:cs typeface="Cambria" pitchFamily="34" charset="-120"/>
              </a:rPr>
              <a:t>Ashok Kumar</a:t>
            </a:r>
            <a:endParaRPr lang="en-US" sz="1600" dirty="0"/>
          </a:p>
        </p:txBody>
      </p:sp>
      <p:sp>
        <p:nvSpPr>
          <p:cNvPr id="38" name="Text 35"/>
          <p:cNvSpPr txBox="1"/>
          <p:nvPr/>
        </p:nvSpPr>
        <p:spPr>
          <a:xfrm>
            <a:off x="4535424" y="4754880"/>
            <a:ext cx="3017520" cy="256032"/>
          </a:xfrm>
          <a:prstGeom prst="rect">
            <a:avLst/>
          </a:prstGeom>
          <a:noFill/>
          <a:ln/>
        </p:spPr>
        <p:txBody>
          <a:bodyPr wrap="square" lIns="0" tIns="0" rIns="0" bIns="0" rtlCol="0" anchor="ctr"/>
          <a:lstStyle/>
          <a:p>
            <a:pPr indent="0" marL="0">
              <a:buNone/>
            </a:pPr>
            <a:r>
              <a:rPr lang="en-US" sz="1150" dirty="0">
                <a:solidFill>
                  <a:srgbClr val="6E6A63"/>
                </a:solidFill>
                <a:latin typeface="Calibri" pitchFamily="34" charset="0"/>
                <a:ea typeface="Calibri" pitchFamily="34" charset="-122"/>
                <a:cs typeface="Calibri" pitchFamily="34" charset="-120"/>
              </a:rPr>
              <a:t>Executive Director</a:t>
            </a:r>
            <a:endParaRPr lang="en-US" sz="1150" dirty="0"/>
          </a:p>
        </p:txBody>
      </p:sp>
      <p:sp>
        <p:nvSpPr>
          <p:cNvPr id="39" name="Text 36"/>
          <p:cNvSpPr txBox="1"/>
          <p:nvPr/>
        </p:nvSpPr>
        <p:spPr>
          <a:xfrm>
            <a:off x="4535424" y="5047488"/>
            <a:ext cx="3017520" cy="274320"/>
          </a:xfrm>
          <a:prstGeom prst="rect">
            <a:avLst/>
          </a:prstGeom>
          <a:noFill/>
          <a:ln/>
        </p:spPr>
        <p:txBody>
          <a:bodyPr wrap="square" lIns="0" tIns="0" rIns="0" bIns="0" rtlCol="0" anchor="ctr"/>
          <a:lstStyle/>
          <a:p>
            <a:pPr indent="0" marL="0">
              <a:buNone/>
            </a:pPr>
            <a:r>
              <a:rPr lang="en-US" sz="1400" b="1" dirty="0">
                <a:solidFill>
                  <a:srgbClr val="6B4A2B"/>
                </a:solidFill>
                <a:latin typeface="Calibri" pitchFamily="34" charset="0"/>
                <a:ea typeface="Calibri" pitchFamily="34" charset="-122"/>
                <a:cs typeface="Calibri" pitchFamily="34" charset="-120"/>
              </a:rPr>
              <a:t>+91 94502 79839</a:t>
            </a:r>
            <a:endParaRPr lang="en-US" sz="1400" dirty="0"/>
          </a:p>
        </p:txBody>
      </p:sp>
      <p:sp>
        <p:nvSpPr>
          <p:cNvPr id="40" name="Shape 37"/>
          <p:cNvSpPr/>
          <p:nvPr/>
        </p:nvSpPr>
        <p:spPr>
          <a:xfrm>
            <a:off x="7863840" y="2011680"/>
            <a:ext cx="3657600" cy="3520440"/>
          </a:xfrm>
          <a:prstGeom prst="roundRect">
            <a:avLst>
              <a:gd name="adj" fmla="val 3117"/>
            </a:avLst>
          </a:prstGeom>
          <a:solidFill>
            <a:srgbClr val="245C36"/>
          </a:solidFill>
          <a:ln w="12700">
            <a:solidFill>
              <a:srgbClr val="245C36"/>
            </a:solidFill>
            <a:prstDash val="solid"/>
          </a:ln>
        </p:spPr>
      </p:sp>
      <p:sp>
        <p:nvSpPr>
          <p:cNvPr id="41" name="Text 38"/>
          <p:cNvSpPr txBox="1"/>
          <p:nvPr/>
        </p:nvSpPr>
        <p:spPr>
          <a:xfrm>
            <a:off x="8119872" y="2231136"/>
            <a:ext cx="315468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How decisions get made</a:t>
            </a:r>
            <a:endParaRPr lang="en-US" sz="1700" dirty="0"/>
          </a:p>
        </p:txBody>
      </p:sp>
      <p:sp>
        <p:nvSpPr>
          <p:cNvPr id="42" name="Text 39"/>
          <p:cNvSpPr txBox="1"/>
          <p:nvPr/>
        </p:nvSpPr>
        <p:spPr>
          <a:xfrm>
            <a:off x="8119872" y="2688336"/>
            <a:ext cx="3154680" cy="2468880"/>
          </a:xfrm>
          <a:prstGeom prst="rect">
            <a:avLst/>
          </a:prstGeom>
          <a:noFill/>
          <a:ln/>
        </p:spPr>
        <p:txBody>
          <a:bodyPr wrap="square" lIns="0" tIns="0" rIns="0" bIns="0" rtlCol="0" anchor="t"/>
          <a:lstStyle/>
          <a:p>
            <a:pPr marL="342900" indent="-342900">
              <a:lnSpc>
                <a:spcPts val="1800"/>
              </a:lnSpc>
              <a:spcAft>
                <a:spcPts val="1000"/>
              </a:spcAft>
              <a:buSzPct val="100000"/>
              <a:buChar char="•"/>
            </a:pPr>
            <a:r>
              <a:rPr lang="en-US" sz="1250" dirty="0">
                <a:solidFill>
                  <a:srgbClr val="D6E4D3"/>
                </a:solidFill>
                <a:latin typeface="Calibri" pitchFamily="34" charset="0"/>
                <a:ea typeface="Calibri" pitchFamily="34" charset="-122"/>
                <a:cs typeface="Calibri" pitchFamily="34" charset="-120"/>
              </a:rPr>
              <a:t>The board is drawn from the membership — directors farm the same land as the people they answer to.</a:t>
            </a:r>
            <a:endParaRPr lang="en-US" sz="1250" dirty="0"/>
          </a:p>
          <a:p>
            <a:pPr marL="342900" indent="-342900">
              <a:lnSpc>
                <a:spcPts val="1800"/>
              </a:lnSpc>
              <a:spcAft>
                <a:spcPts val="1000"/>
              </a:spcAft>
              <a:buSzPct val="100000"/>
              <a:buChar char="•"/>
            </a:pPr>
            <a:r>
              <a:rPr lang="en-US" sz="1250" dirty="0">
                <a:solidFill>
                  <a:srgbClr val="D6E4D3"/>
                </a:solidFill>
                <a:latin typeface="Calibri" pitchFamily="34" charset="0"/>
                <a:ea typeface="Calibri" pitchFamily="34" charset="-122"/>
                <a:cs typeface="Calibri" pitchFamily="34" charset="-120"/>
              </a:rPr>
              <a:t>Voting rights follow membership, not shareholding size.</a:t>
            </a:r>
            <a:endParaRPr lang="en-US" sz="1250" dirty="0"/>
          </a:p>
          <a:p>
            <a:pPr marL="342900" indent="-342900">
              <a:lnSpc>
                <a:spcPts val="1800"/>
              </a:lnSpc>
              <a:spcAft>
                <a:spcPts val="1000"/>
              </a:spcAft>
              <a:buSzPct val="100000"/>
              <a:buChar char="•"/>
            </a:pPr>
            <a:r>
              <a:rPr lang="en-US" sz="1250" dirty="0">
                <a:solidFill>
                  <a:srgbClr val="D6E4D3"/>
                </a:solidFill>
                <a:latin typeface="Calibri" pitchFamily="34" charset="0"/>
                <a:ea typeface="Calibri" pitchFamily="34" charset="-122"/>
                <a:cs typeface="Calibri" pitchFamily="34" charset="-120"/>
              </a:rPr>
              <a:t>Surplus is returned to members in proportion to the produce they supplied.</a:t>
            </a:r>
            <a:endParaRPr lang="en-US" sz="1250" dirty="0"/>
          </a:p>
          <a:p>
            <a:pPr marL="342900" indent="-342900">
              <a:lnSpc>
                <a:spcPts val="1800"/>
              </a:lnSpc>
              <a:buSzPct val="100000"/>
              <a:buChar char="•"/>
            </a:pPr>
            <a:r>
              <a:rPr lang="en-US" sz="1250" dirty="0">
                <a:solidFill>
                  <a:srgbClr val="D6E4D3"/>
                </a:solidFill>
                <a:latin typeface="Calibri" pitchFamily="34" charset="0"/>
                <a:ea typeface="Calibri" pitchFamily="34" charset="-122"/>
                <a:cs typeface="Calibri" pitchFamily="34" charset="-120"/>
              </a:rPr>
              <a:t>Statutory filings are made under CIN U01619UP2026PTC246478.</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5C9A4F"/>
                </a:solidFill>
                <a:latin typeface="Calibri" pitchFamily="34" charset="0"/>
                <a:ea typeface="Calibri" pitchFamily="34" charset="-122"/>
                <a:cs typeface="Calibri" pitchFamily="34" charset="-120"/>
              </a:rPr>
              <a:t>FOR FARMERS</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245C36"/>
                </a:solidFill>
                <a:latin typeface="Cambria" pitchFamily="34" charset="0"/>
                <a:ea typeface="Cambria" pitchFamily="34" charset="-122"/>
                <a:cs typeface="Cambria" pitchFamily="34" charset="-120"/>
              </a:rPr>
              <a:t>How to become a member</a:t>
            </a:r>
            <a:endParaRPr lang="en-US" sz="3600" dirty="0"/>
          </a:p>
        </p:txBody>
      </p:sp>
      <p:pic>
        <p:nvPicPr>
          <p:cNvPr id="4" name="Image 0" descr="preencoded.png">    </p:cNvPr>
          <p:cNvPicPr>
            <a:picLocks noChangeAspect="1"/>
          </p:cNvPicPr>
          <p:nvPr/>
        </p:nvPicPr>
        <p:blipFill>
          <a:blip r:embed="rId1"/>
          <a:stretch>
            <a:fillRect/>
          </a:stretch>
        </p:blipFill>
        <p:spPr>
          <a:xfrm>
            <a:off x="11100816" y="384048"/>
            <a:ext cx="420624" cy="420624"/>
          </a:xfrm>
          <a:prstGeom prst="rect">
            <a:avLst/>
          </a:prstGeom>
        </p:spPr>
      </p:pic>
      <p:sp>
        <p:nvSpPr>
          <p:cNvPr id="5" name="Text 2"/>
          <p:cNvSpPr txBox="1"/>
          <p:nvPr/>
        </p:nvSpPr>
        <p:spPr>
          <a:xfrm>
            <a:off x="640080" y="1481328"/>
            <a:ext cx="9509760" cy="365760"/>
          </a:xfrm>
          <a:prstGeom prst="rect">
            <a:avLst/>
          </a:prstGeom>
          <a:noFill/>
          <a:ln/>
        </p:spPr>
        <p:txBody>
          <a:bodyPr wrap="square" lIns="0" tIns="0" rIns="0" bIns="0" rtlCol="0" anchor="t"/>
          <a:lstStyle/>
          <a:p>
            <a:pPr indent="0" marL="0">
              <a:buNone/>
            </a:pPr>
            <a:r>
              <a:rPr lang="en-US" sz="1450" dirty="0">
                <a:solidFill>
                  <a:srgbClr val="211C16"/>
                </a:solidFill>
                <a:latin typeface="Calibri" pitchFamily="34" charset="0"/>
                <a:ea typeface="Calibri" pitchFamily="34" charset="-122"/>
                <a:cs typeface="Calibri" pitchFamily="34" charset="-120"/>
              </a:rPr>
              <a:t>Membership is open to primary producers farming in and around our operating villages.</a:t>
            </a:r>
            <a:endParaRPr lang="en-US" sz="1450" dirty="0"/>
          </a:p>
        </p:txBody>
      </p:sp>
      <p:sp>
        <p:nvSpPr>
          <p:cNvPr id="6" name="Shape 3"/>
          <p:cNvSpPr/>
          <p:nvPr/>
        </p:nvSpPr>
        <p:spPr>
          <a:xfrm>
            <a:off x="640080" y="2011680"/>
            <a:ext cx="3413760" cy="2560320"/>
          </a:xfrm>
          <a:prstGeom prst="roundRect">
            <a:avLst>
              <a:gd name="adj" fmla="val 3571"/>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7" name="Text 4"/>
          <p:cNvSpPr txBox="1"/>
          <p:nvPr/>
        </p:nvSpPr>
        <p:spPr>
          <a:xfrm>
            <a:off x="914400" y="2194560"/>
            <a:ext cx="1280160" cy="685800"/>
          </a:xfrm>
          <a:prstGeom prst="rect">
            <a:avLst/>
          </a:prstGeom>
          <a:noFill/>
          <a:ln/>
        </p:spPr>
        <p:txBody>
          <a:bodyPr wrap="square" lIns="0" tIns="0" rIns="0" bIns="0" rtlCol="0" anchor="ctr"/>
          <a:lstStyle/>
          <a:p>
            <a:pPr indent="0" marL="0">
              <a:buNone/>
            </a:pPr>
            <a:r>
              <a:rPr lang="en-US" sz="4000" b="1" dirty="0">
                <a:solidFill>
                  <a:srgbClr val="E0A12E"/>
                </a:solidFill>
                <a:latin typeface="Cambria" pitchFamily="34" charset="0"/>
                <a:ea typeface="Cambria" pitchFamily="34" charset="-122"/>
                <a:cs typeface="Cambria" pitchFamily="34" charset="-120"/>
              </a:rPr>
              <a:t>01</a:t>
            </a:r>
            <a:endParaRPr lang="en-US" sz="4000" dirty="0"/>
          </a:p>
        </p:txBody>
      </p:sp>
      <p:sp>
        <p:nvSpPr>
          <p:cNvPr id="8" name="Text 5"/>
          <p:cNvSpPr txBox="1"/>
          <p:nvPr/>
        </p:nvSpPr>
        <p:spPr>
          <a:xfrm>
            <a:off x="914400" y="2926080"/>
            <a:ext cx="2865120" cy="640080"/>
          </a:xfrm>
          <a:prstGeom prst="rect">
            <a:avLst/>
          </a:prstGeom>
          <a:noFill/>
          <a:ln/>
        </p:spPr>
        <p:txBody>
          <a:bodyPr wrap="square" lIns="0" tIns="0" rIns="0" bIns="0" rtlCol="0" anchor="t"/>
          <a:lstStyle/>
          <a:p>
            <a:pPr indent="0" marL="0">
              <a:buNone/>
            </a:pPr>
            <a:r>
              <a:rPr lang="en-US" sz="1900" b="1" dirty="0">
                <a:solidFill>
                  <a:srgbClr val="245C36"/>
                </a:solidFill>
                <a:latin typeface="Cambria" pitchFamily="34" charset="0"/>
                <a:ea typeface="Cambria" pitchFamily="34" charset="-122"/>
                <a:cs typeface="Cambria" pitchFamily="34" charset="-120"/>
              </a:rPr>
              <a:t>Reach out</a:t>
            </a:r>
            <a:endParaRPr lang="en-US" sz="1900" dirty="0"/>
          </a:p>
        </p:txBody>
      </p:sp>
      <p:sp>
        <p:nvSpPr>
          <p:cNvPr id="9" name="Text 6"/>
          <p:cNvSpPr txBox="1"/>
          <p:nvPr/>
        </p:nvSpPr>
        <p:spPr>
          <a:xfrm>
            <a:off x="914400" y="3529584"/>
            <a:ext cx="2865120" cy="960120"/>
          </a:xfrm>
          <a:prstGeom prst="rect">
            <a:avLst/>
          </a:prstGeom>
          <a:noFill/>
          <a:ln/>
        </p:spPr>
        <p:txBody>
          <a:bodyPr wrap="square" lIns="0" tIns="0" rIns="0" bIns="0" rtlCol="0" anchor="t"/>
          <a:lstStyle/>
          <a:p>
            <a:pPr indent="0" marL="0">
              <a:lnSpc>
                <a:spcPts val="1800"/>
              </a:lnSpc>
              <a:buNone/>
            </a:pPr>
            <a:r>
              <a:rPr lang="en-US" sz="1250" dirty="0">
                <a:solidFill>
                  <a:srgbClr val="211C16"/>
                </a:solidFill>
                <a:latin typeface="Calibri" pitchFamily="34" charset="0"/>
                <a:ea typeface="Calibri" pitchFamily="34" charset="-122"/>
                <a:cs typeface="Calibri" pitchFamily="34" charset="-120"/>
              </a:rPr>
              <a:t>Call or WhatsApp either executive director, or send an enquiry through the website — or just speak to a member you already know.</a:t>
            </a:r>
            <a:endParaRPr lang="en-US" sz="1250" dirty="0"/>
          </a:p>
        </p:txBody>
      </p:sp>
      <p:sp>
        <p:nvSpPr>
          <p:cNvPr id="10" name="Shape 7"/>
          <p:cNvSpPr/>
          <p:nvPr/>
        </p:nvSpPr>
        <p:spPr>
          <a:xfrm>
            <a:off x="4373880" y="2011680"/>
            <a:ext cx="3413760" cy="2560320"/>
          </a:xfrm>
          <a:prstGeom prst="roundRect">
            <a:avLst>
              <a:gd name="adj" fmla="val 3571"/>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1" name="Text 8"/>
          <p:cNvSpPr txBox="1"/>
          <p:nvPr/>
        </p:nvSpPr>
        <p:spPr>
          <a:xfrm>
            <a:off x="4648200" y="2194560"/>
            <a:ext cx="1280160" cy="685800"/>
          </a:xfrm>
          <a:prstGeom prst="rect">
            <a:avLst/>
          </a:prstGeom>
          <a:noFill/>
          <a:ln/>
        </p:spPr>
        <p:txBody>
          <a:bodyPr wrap="square" lIns="0" tIns="0" rIns="0" bIns="0" rtlCol="0" anchor="ctr"/>
          <a:lstStyle/>
          <a:p>
            <a:pPr indent="0" marL="0">
              <a:buNone/>
            </a:pPr>
            <a:r>
              <a:rPr lang="en-US" sz="4000" b="1" dirty="0">
                <a:solidFill>
                  <a:srgbClr val="E0A12E"/>
                </a:solidFill>
                <a:latin typeface="Cambria" pitchFamily="34" charset="0"/>
                <a:ea typeface="Cambria" pitchFamily="34" charset="-122"/>
                <a:cs typeface="Cambria" pitchFamily="34" charset="-120"/>
              </a:rPr>
              <a:t>02</a:t>
            </a:r>
            <a:endParaRPr lang="en-US" sz="4000" dirty="0"/>
          </a:p>
        </p:txBody>
      </p:sp>
      <p:sp>
        <p:nvSpPr>
          <p:cNvPr id="12" name="Text 9"/>
          <p:cNvSpPr txBox="1"/>
          <p:nvPr/>
        </p:nvSpPr>
        <p:spPr>
          <a:xfrm>
            <a:off x="4648200" y="2926080"/>
            <a:ext cx="2865120" cy="640080"/>
          </a:xfrm>
          <a:prstGeom prst="rect">
            <a:avLst/>
          </a:prstGeom>
          <a:noFill/>
          <a:ln/>
        </p:spPr>
        <p:txBody>
          <a:bodyPr wrap="square" lIns="0" tIns="0" rIns="0" bIns="0" rtlCol="0" anchor="t"/>
          <a:lstStyle/>
          <a:p>
            <a:pPr indent="0" marL="0">
              <a:buNone/>
            </a:pPr>
            <a:r>
              <a:rPr lang="en-US" sz="1900" b="1" dirty="0">
                <a:solidFill>
                  <a:srgbClr val="245C36"/>
                </a:solidFill>
                <a:latin typeface="Cambria" pitchFamily="34" charset="0"/>
                <a:ea typeface="Cambria" pitchFamily="34" charset="-122"/>
                <a:cs typeface="Cambria" pitchFamily="34" charset="-120"/>
              </a:rPr>
              <a:t>Meet the team</a:t>
            </a:r>
            <a:endParaRPr lang="en-US" sz="1900" dirty="0"/>
          </a:p>
        </p:txBody>
      </p:sp>
      <p:sp>
        <p:nvSpPr>
          <p:cNvPr id="13" name="Text 10"/>
          <p:cNvSpPr txBox="1"/>
          <p:nvPr/>
        </p:nvSpPr>
        <p:spPr>
          <a:xfrm>
            <a:off x="4648200" y="3529584"/>
            <a:ext cx="2865120" cy="960120"/>
          </a:xfrm>
          <a:prstGeom prst="rect">
            <a:avLst/>
          </a:prstGeom>
          <a:noFill/>
          <a:ln/>
        </p:spPr>
        <p:txBody>
          <a:bodyPr wrap="square" lIns="0" tIns="0" rIns="0" bIns="0" rtlCol="0" anchor="t"/>
          <a:lstStyle/>
          <a:p>
            <a:pPr indent="0" marL="0">
              <a:lnSpc>
                <a:spcPts val="1800"/>
              </a:lnSpc>
              <a:buNone/>
            </a:pPr>
            <a:r>
              <a:rPr lang="en-US" sz="1250" dirty="0">
                <a:solidFill>
                  <a:srgbClr val="211C16"/>
                </a:solidFill>
                <a:latin typeface="Calibri" pitchFamily="34" charset="0"/>
                <a:ea typeface="Calibri" pitchFamily="34" charset="-122"/>
                <a:cs typeface="Calibri" pitchFamily="34" charset="-120"/>
              </a:rPr>
              <a:t>We talk through what you grow, how much land you farm, and what joining would mean in practice — for you and for the company.</a:t>
            </a:r>
            <a:endParaRPr lang="en-US" sz="1250" dirty="0"/>
          </a:p>
        </p:txBody>
      </p:sp>
      <p:sp>
        <p:nvSpPr>
          <p:cNvPr id="14" name="Shape 11"/>
          <p:cNvSpPr/>
          <p:nvPr/>
        </p:nvSpPr>
        <p:spPr>
          <a:xfrm>
            <a:off x="8107680" y="2011680"/>
            <a:ext cx="3413760" cy="2560320"/>
          </a:xfrm>
          <a:prstGeom prst="roundRect">
            <a:avLst>
              <a:gd name="adj" fmla="val 3571"/>
            </a:avLst>
          </a:prstGeom>
          <a:solidFill>
            <a:srgbClr val="F7F4EC"/>
          </a:solidFill>
          <a:ln w="12700">
            <a:solidFill>
              <a:srgbClr val="E6E0D2"/>
            </a:solidFill>
            <a:prstDash val="solid"/>
          </a:ln>
          <a:effectLst>
            <a:outerShdw sx="100000" sy="100000" kx="0" ky="0" algn="bl" rotWithShape="0" blurRad="127000" dist="25400" dir="5400000">
              <a:srgbClr val="000000">
                <a:alpha val="10000"/>
              </a:srgbClr>
            </a:outerShdw>
          </a:effectLst>
        </p:spPr>
      </p:sp>
      <p:sp>
        <p:nvSpPr>
          <p:cNvPr id="15" name="Text 12"/>
          <p:cNvSpPr txBox="1"/>
          <p:nvPr/>
        </p:nvSpPr>
        <p:spPr>
          <a:xfrm>
            <a:off x="8382000" y="2194560"/>
            <a:ext cx="1280160" cy="685800"/>
          </a:xfrm>
          <a:prstGeom prst="rect">
            <a:avLst/>
          </a:prstGeom>
          <a:noFill/>
          <a:ln/>
        </p:spPr>
        <p:txBody>
          <a:bodyPr wrap="square" lIns="0" tIns="0" rIns="0" bIns="0" rtlCol="0" anchor="ctr"/>
          <a:lstStyle/>
          <a:p>
            <a:pPr indent="0" marL="0">
              <a:buNone/>
            </a:pPr>
            <a:r>
              <a:rPr lang="en-US" sz="4000" b="1" dirty="0">
                <a:solidFill>
                  <a:srgbClr val="E0A12E"/>
                </a:solidFill>
                <a:latin typeface="Cambria" pitchFamily="34" charset="0"/>
                <a:ea typeface="Cambria" pitchFamily="34" charset="-122"/>
                <a:cs typeface="Cambria" pitchFamily="34" charset="-120"/>
              </a:rPr>
              <a:t>03</a:t>
            </a:r>
            <a:endParaRPr lang="en-US" sz="4000" dirty="0"/>
          </a:p>
        </p:txBody>
      </p:sp>
      <p:sp>
        <p:nvSpPr>
          <p:cNvPr id="16" name="Text 13"/>
          <p:cNvSpPr txBox="1"/>
          <p:nvPr/>
        </p:nvSpPr>
        <p:spPr>
          <a:xfrm>
            <a:off x="8382000" y="2926080"/>
            <a:ext cx="2865120" cy="640080"/>
          </a:xfrm>
          <a:prstGeom prst="rect">
            <a:avLst/>
          </a:prstGeom>
          <a:noFill/>
          <a:ln/>
        </p:spPr>
        <p:txBody>
          <a:bodyPr wrap="square" lIns="0" tIns="0" rIns="0" bIns="0" rtlCol="0" anchor="t"/>
          <a:lstStyle/>
          <a:p>
            <a:pPr indent="0" marL="0">
              <a:buNone/>
            </a:pPr>
            <a:r>
              <a:rPr lang="en-US" sz="1900" b="1" dirty="0">
                <a:solidFill>
                  <a:srgbClr val="245C36"/>
                </a:solidFill>
                <a:latin typeface="Cambria" pitchFamily="34" charset="0"/>
                <a:ea typeface="Cambria" pitchFamily="34" charset="-122"/>
                <a:cs typeface="Cambria" pitchFamily="34" charset="-120"/>
              </a:rPr>
              <a:t>Join as a shareholder-member</a:t>
            </a:r>
            <a:endParaRPr lang="en-US" sz="1900" dirty="0"/>
          </a:p>
        </p:txBody>
      </p:sp>
      <p:sp>
        <p:nvSpPr>
          <p:cNvPr id="17" name="Text 14"/>
          <p:cNvSpPr txBox="1"/>
          <p:nvPr/>
        </p:nvSpPr>
        <p:spPr>
          <a:xfrm>
            <a:off x="8382000" y="3529584"/>
            <a:ext cx="2865120" cy="960120"/>
          </a:xfrm>
          <a:prstGeom prst="rect">
            <a:avLst/>
          </a:prstGeom>
          <a:noFill/>
          <a:ln/>
        </p:spPr>
        <p:txBody>
          <a:bodyPr wrap="square" lIns="0" tIns="0" rIns="0" bIns="0" rtlCol="0" anchor="t"/>
          <a:lstStyle/>
          <a:p>
            <a:pPr indent="0" marL="0">
              <a:lnSpc>
                <a:spcPts val="1800"/>
              </a:lnSpc>
              <a:buNone/>
            </a:pPr>
            <a:r>
              <a:rPr lang="en-US" sz="1250" dirty="0">
                <a:solidFill>
                  <a:srgbClr val="211C16"/>
                </a:solidFill>
                <a:latin typeface="Calibri" pitchFamily="34" charset="0"/>
                <a:ea typeface="Calibri" pitchFamily="34" charset="-122"/>
                <a:cs typeface="Calibri" pitchFamily="34" charset="-120"/>
              </a:rPr>
              <a:t>Subscribe for shares at ₹10 each and be entered on the member register. From that point you are an owner, not a supplier.</a:t>
            </a:r>
            <a:endParaRPr lang="en-US" sz="1250" dirty="0"/>
          </a:p>
        </p:txBody>
      </p:sp>
      <p:sp>
        <p:nvSpPr>
          <p:cNvPr id="18" name="Shape 15"/>
          <p:cNvSpPr/>
          <p:nvPr/>
        </p:nvSpPr>
        <p:spPr>
          <a:xfrm>
            <a:off x="640080" y="4846320"/>
            <a:ext cx="10881360" cy="1143000"/>
          </a:xfrm>
          <a:prstGeom prst="roundRect">
            <a:avLst>
              <a:gd name="adj" fmla="val 9600"/>
            </a:avLst>
          </a:prstGeom>
          <a:solidFill>
            <a:srgbClr val="245C36"/>
          </a:solidFill>
          <a:ln/>
        </p:spPr>
      </p:sp>
      <p:sp>
        <p:nvSpPr>
          <p:cNvPr id="19" name="Text 16"/>
          <p:cNvSpPr txBox="1"/>
          <p:nvPr/>
        </p:nvSpPr>
        <p:spPr>
          <a:xfrm>
            <a:off x="1005840" y="5020056"/>
            <a:ext cx="36576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Talk to us</a:t>
            </a:r>
            <a:endParaRPr lang="en-US" sz="2000" dirty="0"/>
          </a:p>
        </p:txBody>
      </p:sp>
      <p:sp>
        <p:nvSpPr>
          <p:cNvPr id="20" name="Text 17"/>
          <p:cNvSpPr txBox="1"/>
          <p:nvPr/>
        </p:nvSpPr>
        <p:spPr>
          <a:xfrm>
            <a:off x="1005840" y="5422392"/>
            <a:ext cx="10058400" cy="320040"/>
          </a:xfrm>
          <a:prstGeom prst="rect">
            <a:avLst/>
          </a:prstGeom>
          <a:noFill/>
          <a:ln/>
        </p:spPr>
        <p:txBody>
          <a:bodyPr wrap="square" lIns="0" tIns="0" rIns="0" bIns="0" rtlCol="0" anchor="t"/>
          <a:lstStyle/>
          <a:p>
            <a:pPr indent="0" marL="0">
              <a:buNone/>
            </a:pPr>
            <a:r>
              <a:rPr lang="en-US" sz="1400" dirty="0">
                <a:solidFill>
                  <a:srgbClr val="E0A12E"/>
                </a:solidFill>
                <a:latin typeface="Calibri" pitchFamily="34" charset="0"/>
                <a:ea typeface="Calibri" pitchFamily="34" charset="-122"/>
                <a:cs typeface="Calibri" pitchFamily="34" charset="-120"/>
              </a:rPr>
              <a:t>+91 94544 56072  ·  +91 94502 79839  ·  info@gugauliorganic.in  ·  gugauliorganic.in</a:t>
            </a:r>
            <a:endParaRPr lang="en-US" sz="1400" dirty="0"/>
          </a:p>
        </p:txBody>
      </p:sp>
      <p:sp>
        <p:nvSpPr>
          <p:cNvPr id="21" name="Text 18"/>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6A63"/>
                </a:solidFill>
                <a:latin typeface="Calibri" pitchFamily="34" charset="0"/>
                <a:ea typeface="Calibri" pitchFamily="34" charset="-122"/>
                <a:cs typeface="Calibri" pitchFamily="34" charset="-120"/>
              </a:rPr>
              <a:t>The joining process is being formalised — the steps above describe how it works in practice today.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5C36"/>
        </a:solidFill>
      </p:bgPr>
    </p:bg>
    <p:spTree>
      <p:nvGrpSpPr>
        <p:cNvPr id="1" name=""/>
        <p:cNvGrpSpPr/>
        <p:nvPr/>
      </p:nvGrpSpPr>
      <p:grpSpPr>
        <a:xfrm>
          <a:off x="0" y="0"/>
          <a:ext cx="0" cy="0"/>
          <a:chOff x="0" y="0"/>
          <a:chExt cx="0" cy="0"/>
        </a:xfrm>
      </p:grpSpPr>
      <p:sp>
        <p:nvSpPr>
          <p:cNvPr id="2" name="Text 0"/>
          <p:cNvSpPr txBox="1"/>
          <p:nvPr/>
        </p:nvSpPr>
        <p:spPr>
          <a:xfrm>
            <a:off x="640080" y="402336"/>
            <a:ext cx="10881360" cy="237744"/>
          </a:xfrm>
          <a:prstGeom prst="rect">
            <a:avLst/>
          </a:prstGeom>
          <a:noFill/>
          <a:ln/>
        </p:spPr>
        <p:txBody>
          <a:bodyPr wrap="square" lIns="0" tIns="0" rIns="0" bIns="0" rtlCol="0" anchor="ctr"/>
          <a:lstStyle/>
          <a:p>
            <a:pPr indent="0" marL="0">
              <a:buNone/>
            </a:pPr>
            <a:r>
              <a:rPr lang="en-US" sz="1200" b="1" spc="200" kern="0" dirty="0">
                <a:solidFill>
                  <a:srgbClr val="E0A12E"/>
                </a:solidFill>
                <a:latin typeface="Calibri" pitchFamily="34" charset="0"/>
                <a:ea typeface="Calibri" pitchFamily="34" charset="-122"/>
                <a:cs typeface="Calibri" pitchFamily="34" charset="-120"/>
              </a:rPr>
              <a:t>THE DETAILS</a:t>
            </a:r>
            <a:endParaRPr lang="en-US" sz="1200" dirty="0"/>
          </a:p>
        </p:txBody>
      </p:sp>
      <p:sp>
        <p:nvSpPr>
          <p:cNvPr id="3" name="Text 1"/>
          <p:cNvSpPr txBox="1"/>
          <p:nvPr/>
        </p:nvSpPr>
        <p:spPr>
          <a:xfrm>
            <a:off x="640080" y="658368"/>
            <a:ext cx="1088136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Registration &amp; contact</a:t>
            </a:r>
            <a:endParaRPr lang="en-US" sz="3600" dirty="0"/>
          </a:p>
        </p:txBody>
      </p:sp>
      <p:pic>
        <p:nvPicPr>
          <p:cNvPr id="4" name="Image 0" descr="preencoded.png">    </p:cNvPr>
          <p:cNvPicPr>
            <a:picLocks noChangeAspect="1"/>
          </p:cNvPicPr>
          <p:nvPr/>
        </p:nvPicPr>
        <p:blipFill>
          <a:blip r:embed="rId1"/>
          <a:stretch>
            <a:fillRect/>
          </a:stretch>
        </p:blipFill>
        <p:spPr>
          <a:xfrm>
            <a:off x="8458200" y="2057400"/>
            <a:ext cx="3017520" cy="1554480"/>
          </a:xfrm>
          <a:prstGeom prst="rect">
            <a:avLst/>
          </a:prstGeom>
        </p:spPr>
      </p:pic>
      <p:sp>
        <p:nvSpPr>
          <p:cNvPr id="5" name="Text 2"/>
          <p:cNvSpPr txBox="1"/>
          <p:nvPr/>
        </p:nvSpPr>
        <p:spPr>
          <a:xfrm>
            <a:off x="640080" y="1627632"/>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Legal name</a:t>
            </a:r>
            <a:endParaRPr lang="en-US" sz="1250" dirty="0"/>
          </a:p>
        </p:txBody>
      </p:sp>
      <p:sp>
        <p:nvSpPr>
          <p:cNvPr id="6" name="Text 3"/>
          <p:cNvSpPr txBox="1"/>
          <p:nvPr/>
        </p:nvSpPr>
        <p:spPr>
          <a:xfrm>
            <a:off x="2834640" y="1627632"/>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Gugauli Organic Producer Company Limited</a:t>
            </a:r>
            <a:endParaRPr lang="en-US" sz="1250" dirty="0"/>
          </a:p>
        </p:txBody>
      </p:sp>
      <p:sp>
        <p:nvSpPr>
          <p:cNvPr id="7" name="Text 4"/>
          <p:cNvSpPr txBox="1"/>
          <p:nvPr/>
        </p:nvSpPr>
        <p:spPr>
          <a:xfrm>
            <a:off x="640080" y="2112264"/>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Type</a:t>
            </a:r>
            <a:endParaRPr lang="en-US" sz="1250" dirty="0"/>
          </a:p>
        </p:txBody>
      </p:sp>
      <p:sp>
        <p:nvSpPr>
          <p:cNvPr id="8" name="Text 5"/>
          <p:cNvSpPr txBox="1"/>
          <p:nvPr/>
        </p:nvSpPr>
        <p:spPr>
          <a:xfrm>
            <a:off x="2834640" y="2112264"/>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Farmer Producer Company (Companies Act, 2013)</a:t>
            </a:r>
            <a:endParaRPr lang="en-US" sz="1250" dirty="0"/>
          </a:p>
        </p:txBody>
      </p:sp>
      <p:sp>
        <p:nvSpPr>
          <p:cNvPr id="9" name="Text 6"/>
          <p:cNvSpPr txBox="1"/>
          <p:nvPr/>
        </p:nvSpPr>
        <p:spPr>
          <a:xfrm>
            <a:off x="640080" y="2596896"/>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CIN</a:t>
            </a:r>
            <a:endParaRPr lang="en-US" sz="1250" dirty="0"/>
          </a:p>
        </p:txBody>
      </p:sp>
      <p:sp>
        <p:nvSpPr>
          <p:cNvPr id="10" name="Text 7"/>
          <p:cNvSpPr txBox="1"/>
          <p:nvPr/>
        </p:nvSpPr>
        <p:spPr>
          <a:xfrm>
            <a:off x="2834640" y="2596896"/>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U01619UP2026PTC246478</a:t>
            </a:r>
            <a:endParaRPr lang="en-US" sz="1250" dirty="0"/>
          </a:p>
        </p:txBody>
      </p:sp>
      <p:sp>
        <p:nvSpPr>
          <p:cNvPr id="11" name="Text 8"/>
          <p:cNvSpPr txBox="1"/>
          <p:nvPr/>
        </p:nvSpPr>
        <p:spPr>
          <a:xfrm>
            <a:off x="640080" y="3081528"/>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GSTIN</a:t>
            </a:r>
            <a:endParaRPr lang="en-US" sz="1250" dirty="0"/>
          </a:p>
        </p:txBody>
      </p:sp>
      <p:sp>
        <p:nvSpPr>
          <p:cNvPr id="12" name="Text 9"/>
          <p:cNvSpPr txBox="1"/>
          <p:nvPr/>
        </p:nvSpPr>
        <p:spPr>
          <a:xfrm>
            <a:off x="2834640" y="3081528"/>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09AAMCG9593P1ZB</a:t>
            </a:r>
            <a:endParaRPr lang="en-US" sz="1250" dirty="0"/>
          </a:p>
        </p:txBody>
      </p:sp>
      <p:sp>
        <p:nvSpPr>
          <p:cNvPr id="13" name="Text 10"/>
          <p:cNvSpPr txBox="1"/>
          <p:nvPr/>
        </p:nvSpPr>
        <p:spPr>
          <a:xfrm>
            <a:off x="640080" y="3566160"/>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Incorporated</a:t>
            </a:r>
            <a:endParaRPr lang="en-US" sz="1250" dirty="0"/>
          </a:p>
        </p:txBody>
      </p:sp>
      <p:sp>
        <p:nvSpPr>
          <p:cNvPr id="14" name="Text 11"/>
          <p:cNvSpPr txBox="1"/>
          <p:nvPr/>
        </p:nvSpPr>
        <p:spPr>
          <a:xfrm>
            <a:off x="2834640" y="3566160"/>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8 April 2026</a:t>
            </a:r>
            <a:endParaRPr lang="en-US" sz="1250" dirty="0"/>
          </a:p>
        </p:txBody>
      </p:sp>
      <p:sp>
        <p:nvSpPr>
          <p:cNvPr id="15" name="Text 12"/>
          <p:cNvSpPr txBox="1"/>
          <p:nvPr/>
        </p:nvSpPr>
        <p:spPr>
          <a:xfrm>
            <a:off x="640080" y="4050792"/>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Authorised capital</a:t>
            </a:r>
            <a:endParaRPr lang="en-US" sz="1250" dirty="0"/>
          </a:p>
        </p:txBody>
      </p:sp>
      <p:sp>
        <p:nvSpPr>
          <p:cNvPr id="16" name="Text 13"/>
          <p:cNvSpPr txBox="1"/>
          <p:nvPr/>
        </p:nvSpPr>
        <p:spPr>
          <a:xfrm>
            <a:off x="2834640" y="4050792"/>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₹1,00,000 (10,000 equity shares of ₹10 each)</a:t>
            </a:r>
            <a:endParaRPr lang="en-US" sz="1250" dirty="0"/>
          </a:p>
        </p:txBody>
      </p:sp>
      <p:sp>
        <p:nvSpPr>
          <p:cNvPr id="17" name="Text 14"/>
          <p:cNvSpPr txBox="1"/>
          <p:nvPr/>
        </p:nvSpPr>
        <p:spPr>
          <a:xfrm>
            <a:off x="640080" y="4535424"/>
            <a:ext cx="2103120" cy="438912"/>
          </a:xfrm>
          <a:prstGeom prst="rect">
            <a:avLst/>
          </a:prstGeom>
          <a:noFill/>
          <a:ln/>
        </p:spPr>
        <p:txBody>
          <a:bodyPr wrap="square" lIns="0" tIns="0" rIns="0" bIns="0" rtlCol="0" anchor="t"/>
          <a:lstStyle/>
          <a:p>
            <a:pPr indent="0" marL="0">
              <a:buNone/>
            </a:pPr>
            <a:r>
              <a:rPr lang="en-US" sz="1250" b="1" dirty="0">
                <a:solidFill>
                  <a:srgbClr val="9FBFA6"/>
                </a:solidFill>
                <a:latin typeface="Calibri" pitchFamily="34" charset="0"/>
                <a:ea typeface="Calibri" pitchFamily="34" charset="-122"/>
                <a:cs typeface="Calibri" pitchFamily="34" charset="-120"/>
              </a:rPr>
              <a:t>Registered office</a:t>
            </a:r>
            <a:endParaRPr lang="en-US" sz="1250" dirty="0"/>
          </a:p>
        </p:txBody>
      </p:sp>
      <p:sp>
        <p:nvSpPr>
          <p:cNvPr id="18" name="Text 15"/>
          <p:cNvSpPr txBox="1"/>
          <p:nvPr/>
        </p:nvSpPr>
        <p:spPr>
          <a:xfrm>
            <a:off x="2834640" y="4535424"/>
            <a:ext cx="61264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Village &amp; Post Piparahari, Tindwari, Banda,</a:t>
            </a:r>
            <a:endParaRPr lang="en-US" sz="1250" dirty="0"/>
          </a:p>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Uttar Pradesh – 210123, India</a:t>
            </a:r>
            <a:endParaRPr lang="en-US" sz="1250" dirty="0"/>
          </a:p>
        </p:txBody>
      </p:sp>
      <p:sp>
        <p:nvSpPr>
          <p:cNvPr id="19" name="Shape 16"/>
          <p:cNvSpPr/>
          <p:nvPr/>
        </p:nvSpPr>
        <p:spPr>
          <a:xfrm>
            <a:off x="640080" y="5230368"/>
            <a:ext cx="10881360" cy="960120"/>
          </a:xfrm>
          <a:prstGeom prst="roundRect">
            <a:avLst>
              <a:gd name="adj" fmla="val 9524"/>
            </a:avLst>
          </a:prstGeom>
          <a:solidFill>
            <a:srgbClr val="1B4A2B"/>
          </a:solidFill>
          <a:ln w="12700">
            <a:solidFill>
              <a:srgbClr val="2F6E42"/>
            </a:solidFill>
            <a:prstDash val="solid"/>
          </a:ln>
        </p:spPr>
      </p:sp>
      <p:sp>
        <p:nvSpPr>
          <p:cNvPr id="20" name="Text 17"/>
          <p:cNvSpPr txBox="1"/>
          <p:nvPr/>
        </p:nvSpPr>
        <p:spPr>
          <a:xfrm>
            <a:off x="914400" y="5230368"/>
            <a:ext cx="10332720" cy="960120"/>
          </a:xfrm>
          <a:prstGeom prst="rect">
            <a:avLst/>
          </a:prstGeom>
          <a:noFill/>
          <a:ln/>
        </p:spPr>
        <p:txBody>
          <a:bodyPr wrap="square" lIns="0" tIns="0" rIns="0" bIns="0" rtlCol="0" anchor="ctr"/>
          <a:lstStyle/>
          <a:p>
            <a:pPr indent="0" marL="0">
              <a:buNone/>
            </a:pPr>
            <a:r>
              <a:rPr lang="en-US" sz="1350" dirty="0">
                <a:solidFill>
                  <a:srgbClr val="E0A12E"/>
                </a:solidFill>
                <a:latin typeface="Calibri" pitchFamily="34" charset="0"/>
                <a:ea typeface="Calibri" pitchFamily="34" charset="-122"/>
                <a:cs typeface="Calibri" pitchFamily="34" charset="-120"/>
              </a:rPr>
              <a:t>Vikhyat Kumar Yadav  +91 94544 56072      Ashok Kumar  +91 94502 79839      info@gugauliorganic.in      gugauliorganic.in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Gugauli Organic Producer Company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Gugauli Organic Producer Company Limited — Company Profile</dc:title>
  <dc:subject>PptxGenJS Presentation</dc:subject>
  <dc:creator>Gugauli Organic Producer Company Limited</dc:creator>
  <cp:lastModifiedBy>Gugauli Organic Producer Company Limited</cp:lastModifiedBy>
  <cp:revision>1</cp:revision>
  <dcterms:created xsi:type="dcterms:W3CDTF">2026-09-04T10:10:31Z</dcterms:created>
  <dcterms:modified xsi:type="dcterms:W3CDTF">2026-09-04T10:10:31Z</dcterms:modified>
</cp:coreProperties>
</file>